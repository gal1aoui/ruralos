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seconds. Say the name, say the village, say the line. Do not explain the logo; it is an R with the river running through it and the valley at its foot.
</a:t>
            </a:r>
          </a:p>
          <a:p>
            <a:r>
              <a:rPr lang="en-US" dirty="0" b="1"/>
              <a:t>SAY:</a:t>
            </a:r>
            <a:r>
              <a:rPr lang="en-US" dirty="0"/>
              <a:t xml:space="preserve"> A village has houses, land and people. We put all three to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Two numbers about the village, two about the land. The land numbers are the new ones: a third of Galicia's farmland is unused, and there are forty owners for every person who farms.
</a:t>
            </a:r>
          </a:p>
          <a:p>
            <a:r>
              <a:rPr lang="en-US" dirty="0"/>
              <a:t>The 35.7% figure is Ministry of Agriculture data reported in March 2026; the 1.7 million owners figure is from September 2026.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Slow down on this slide. The whole pitch is here: the village is not poor in assets, it is poor in hosts. Pause after the last line.
</a:t>
            </a:r>
          </a:p>
          <a:p>
            <a:r>
              <a:rPr lang="en-US" dirty="0" b="1"/>
              <a:t>SAY:</a:t>
            </a:r>
            <a:r>
              <a:rPr lang="en-US" dirty="0"/>
              <a:t xml:space="preserve"> So the assets sit idle, and visitors come for a weekend.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Three products, one host. Stay pays the first months, Celebrate uses the land in summer, Farm is the one that lasts: five to twenty-five years.
</a:t>
            </a:r>
          </a:p>
          <a:p>
            <a:r>
              <a:rPr lang="en-US" dirty="0"/>
              <a:t>Say the bottom line word for word: every product pays a villager first, and we never own the land.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Thirty-five seconds. Left: the five things a project cannot do alone from a city. Right: two prices, and the reason they are separate from the bed. Lodging is always booked with the owner, which keeps us out of package-holiday law.
</a:t>
            </a:r>
          </a:p>
          <a:p>
            <a:r>
              <a:rPr lang="en-US" dirty="0"/>
              <a:t>IF ASKED why €1,500: it is roughly a week of a gestor's and our time per project, and the Cambela polygon shows what assembling owners costs the Xunta.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Name the four as market validation, not rivals. Then one column at a time: only the Banco de Terras does multi-year leases, and it lists parcels; it does not go door to door for 135 signatures. Say the positioning line and pause.
</a:t>
            </a:r>
          </a:p>
          <a:p>
            <a:r>
              <a:rPr lang="en-US" dirty="0" b="1"/>
              <a:t>SAY:</a:t>
            </a:r>
            <a:r>
              <a:rPr lang="en-US" dirty="0"/>
              <a:t xml:space="preserve"> Aldealista shows the village. Colivings host the visit. The Banco de Terras lists the parcel. RuralRiver signs the lease and hires the village.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Point at the map: the municipal boundary comes from OpenStreetMap, the ten dots are example parcels with hectares, water, access and the year they were last worked. Click one and the lease builder prices it for five to twenty-five years.
</a:t>
            </a:r>
          </a:p>
          <a:p>
            <a:r>
              <a:rPr lang="en-US" dirty="0"/>
              <a:t>Be honest: payments and owner accounts are not built, and the parcels are examples until an owner consents.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Guests pay for the first months, events carry the summer, projects pay every year. Point out that the land margin is the highest because the owner is paid out of the rent, not out of our fee.
</a:t>
            </a:r>
          </a:p>
          <a:p>
            <a:r>
              <a:rPr lang="en-US" dirty="0"/>
              <a:t>Shares of year-one revenue: guests 48%, events 36%, land 17%.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Forty-five seconds. Revenue, profit, cash. Then the loan: twenty thousand at seven percent, repaid inside the year, and the business is still profitable at twenty-nine percent of plan. Volunteer that founder pay is not in the figure.
</a:t>
            </a:r>
          </a:p>
          <a:p>
            <a:r>
              <a:rPr lang="en-US" dirty="0"/>
              <a:t>Revenue after full loan repayment: €118,434. Breakeven volume factor: 0.29 of plan (€40,070 revenue).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Forty seconds. Say the three facts quickly, then the two lines, then stop talking. Silence after the last line is the strongest thing you can do.
</a:t>
            </a:r>
          </a:p>
          <a:p>
            <a:r>
              <a:rPr lang="en-US" dirty="0" b="1"/>
              <a:t>SAY:</a:t>
            </a:r>
            <a:r>
              <a:rPr lang="en-US" dirty="0"/>
              <a:t xml:space="preserve"> Airbnb helps people stay. RuralRiver helps a village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the five minutes. Jump straight to the one that answers the question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Stays fund the first months. The land is what lasts: a lease runs five to twenty-five years, and every euro of venue fee and land rent goes eighty to eighty-five percent to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price is for what the village does with you, not for the bed. Beds belong to the owners at market prices, which keeps us out of package-holiday law and keeps the owners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slowly. The campus is our best lead source: founders who need things to do, places to celebrate, and, for the agri-food ideas among them,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lease pays us every year for a decade; a week-long guest pays once. That is why the land lines carry the highest margin in the model. Owner over ten years: €8,432; RuralRiver over ten years: €8,988.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land-related lines (3-month packages, set-ups, management) carry the highest margins because the owner is paid out of the rent, not out of our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€139,200, direct costs €57,700, fixed €12,960, capex €9,500, interest €766: profit €58,274. Cash at month 12 after repaying the €20,000 principal: €63,274.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of every volume: €70,600 revenue, €17,844 profit. No events: €42,274 profit. No land leases: €39,074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this is not modelled. Year one repays the loan on one village; these are the three directions, in order of how little capital they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legal findings that changed the plan: licensed taxis instead of our car, and packages that contain tourist services only. The two land risks are scattered ownership and the five-year minimum; both are why owners need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alternative for the owner is not a better offer. It is another decade of brambles, a fire risk, and heirs who have never seen the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this up if anyone asks what is actually built. The land map is the newest part: boundary from OpenStreetMap, ten example parcels, a lease builder that prices years, not nights.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Grants help projects start; they are not our revenue. The young-farmer aid goes to the project owner on our parcels, which makes our leases easier to sell, not our P&amp;L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10"/>
        </a:solidFill>
      </p:bgPr>
    </p:bg>
    <p:spTree>
      <p:nvGrpSpPr>
        <p:cNvPr id="1" name=""/>
        <p:cNvGrpSpPr/>
        <p:nvPr/>
      </p:nvGrpSpPr>
      <p:grpSpPr>
        <a:xfrm>
          <a:off x="0" y="0"/>
          <a:ext cx="0" cy="0"/>
          <a:chOff x="0" y="0"/>
          <a:chExt cx="0" cy="0"/>
        </a:xfrm>
      </p:grpSpPr>
      <p:pic>
        <p:nvPicPr>
          <p:cNvPr id="2"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4"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RURALRIVER · THE HIDDEN HEAVEN</a:t>
            </a:r>
            <a:endParaRPr lang="en-US" sz="1300" dirty="0"/>
          </a:p>
        </p:txBody>
      </p:sp>
      <p:pic>
        <p:nvPicPr>
          <p:cNvPr id="5" name="Image 1" descr="Rural River logo">    </p:cNvPr>
          <p:cNvPicPr>
            <a:picLocks noChangeAspect="1"/>
          </p:cNvPicPr>
          <p:nvPr/>
        </p:nvPicPr>
        <p:blipFill>
          <a:blip r:embed="rId2"/>
          <a:srcRect l="0" r="0" t="0" b="0"/>
          <a:stretch/>
        </p:blipFill>
        <p:spPr>
          <a:xfrm>
            <a:off x="8366760" y="1508760"/>
            <a:ext cx="2743200" cy="2743200"/>
          </a:xfrm>
          <a:prstGeom prst="rect">
            <a:avLst/>
          </a:prstGeom>
        </p:spPr>
      </p:pic>
      <p:sp>
        <p:nvSpPr>
          <p:cNvPr id="6" name="Text 1"/>
          <p:cNvSpPr txBox="1"/>
          <p:nvPr/>
        </p:nvSpPr>
        <p:spPr>
          <a:xfrm>
            <a:off x="812902" y="1874520"/>
            <a:ext cx="7589520" cy="1051560"/>
          </a:xfrm>
          <a:prstGeom prst="rect">
            <a:avLst/>
          </a:prstGeom>
          <a:noFill/>
          <a:ln/>
        </p:spPr>
        <p:txBody>
          <a:bodyPr wrap="square" lIns="0" tIns="0" rIns="0" bIns="0" rtlCol="0" anchor="t">
            <a:normAutofit/>
          </a:bodyPr>
          <a:lstStyle/>
          <a:p>
            <a:pPr algn="l" indent="0" marL="0">
              <a:lnSpc>
                <a:spcPts val="4200"/>
              </a:lnSpc>
              <a:buNone/>
            </a:pPr>
            <a:r>
              <a:rPr lang="en-US" altLang="en-US" sz="3600" b="1" dirty="0">
                <a:solidFill>
                  <a:srgbClr val="E9EBE4"/>
                </a:solidFill>
                <a:latin typeface="Domine" pitchFamily="34" charset="0"/>
                <a:ea typeface="Domine" pitchFamily="34" charset="-122"/>
                <a:cs typeface="Domine" pitchFamily="34" charset="-120"/>
              </a:rPr>
              <a:t>A village has houses,</a:t>
            </a:r>
            <a:endParaRPr lang="en-US" sz="3600" dirty="0"/>
          </a:p>
          <a:p>
            <a:pPr algn="l" indent="0" marL="0">
              <a:lnSpc>
                <a:spcPts val="4200"/>
              </a:lnSpc>
              <a:buNone/>
            </a:pPr>
            <a:r>
              <a:rPr lang="en-US" altLang="en-US" sz="3600" b="1" dirty="0">
                <a:solidFill>
                  <a:srgbClr val="E9EBE4"/>
                </a:solidFill>
                <a:latin typeface="Domine" pitchFamily="34" charset="0"/>
                <a:ea typeface="Domine" pitchFamily="34" charset="-122"/>
                <a:cs typeface="Domine" pitchFamily="34" charset="-120"/>
              </a:rPr>
              <a:t>land and people.</a:t>
            </a:r>
            <a:endParaRPr lang="en-US" sz="3600" dirty="0"/>
          </a:p>
        </p:txBody>
      </p:sp>
      <p:sp>
        <p:nvSpPr>
          <p:cNvPr id="7" name="Text 2"/>
          <p:cNvSpPr txBox="1"/>
          <p:nvPr/>
        </p:nvSpPr>
        <p:spPr>
          <a:xfrm>
            <a:off x="812902" y="3063240"/>
            <a:ext cx="7589520" cy="594360"/>
          </a:xfrm>
          <a:prstGeom prst="rect">
            <a:avLst/>
          </a:prstGeom>
          <a:noFill/>
          <a:ln/>
        </p:spPr>
        <p:txBody>
          <a:bodyPr wrap="square" lIns="0" tIns="0" rIns="0" bIns="0" rtlCol="0" anchor="t">
            <a:normAutofit/>
          </a:bodyPr>
          <a:lstStyle/>
          <a:p>
            <a:pPr algn="l" indent="0" marL="0">
              <a:lnSpc>
                <a:spcPts val="4200"/>
              </a:lnSpc>
              <a:buNone/>
            </a:pPr>
            <a:r>
              <a:rPr lang="en-US" altLang="en-US" sz="3600" b="1" dirty="0">
                <a:solidFill>
                  <a:srgbClr val="A7C049"/>
                </a:solidFill>
                <a:latin typeface="Domine" pitchFamily="34" charset="0"/>
                <a:ea typeface="Domine" pitchFamily="34" charset="-122"/>
                <a:cs typeface="Domine" pitchFamily="34" charset="-120"/>
              </a:rPr>
              <a:t>We put all three to work.</a:t>
            </a:r>
            <a:endParaRPr lang="en-US" sz="3600" dirty="0"/>
          </a:p>
        </p:txBody>
      </p:sp>
      <p:sp>
        <p:nvSpPr>
          <p:cNvPr id="8" name="Text 3"/>
          <p:cNvSpPr txBox="1"/>
          <p:nvPr/>
        </p:nvSpPr>
        <p:spPr>
          <a:xfrm>
            <a:off x="812902" y="4114800"/>
            <a:ext cx="7498080" cy="914400"/>
          </a:xfrm>
          <a:prstGeom prst="rect">
            <a:avLst/>
          </a:prstGeom>
          <a:noFill/>
          <a:ln/>
        </p:spPr>
        <p:txBody>
          <a:bodyPr wrap="square" lIns="0" tIns="0" rIns="0" bIns="0" rtlCol="0" anchor="t">
            <a:normAutofit/>
          </a:bodyPr>
          <a:lstStyle/>
          <a:p>
            <a:pPr algn="l" indent="0" marL="0">
              <a:lnSpc>
                <a:spcPts val="2600"/>
              </a:lnSpc>
              <a:buNone/>
            </a:pPr>
            <a:r>
              <a:rPr lang="en-US" altLang="en-US" sz="1800" dirty="0">
                <a:solidFill>
                  <a:srgbClr val="A9B6A8"/>
                </a:solidFill>
                <a:latin typeface="Nunito Sans" pitchFamily="34" charset="0"/>
                <a:ea typeface="Nunito Sans" pitchFamily="34" charset="-122"/>
                <a:cs typeface="Nunito Sans" pitchFamily="34" charset="-120"/>
              </a:rPr>
              <a:t>A local host business in San Xoán de Río, Terra de Trives, Ourense: stays in its houses, private events on its land, and multi-year leases of its abandoned parcels to agricultural projects.</a:t>
            </a:r>
            <a:endParaRPr lang="en-US" sz="1800" dirty="0"/>
          </a:p>
        </p:txBody>
      </p:sp>
      <p:sp>
        <p:nvSpPr>
          <p:cNvPr id="9" name="Text 4"/>
          <p:cNvSpPr txBox="1"/>
          <p:nvPr/>
        </p:nvSpPr>
        <p:spPr>
          <a:xfrm>
            <a:off x="812902" y="6238037"/>
            <a:ext cx="96012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Hackathon pitch · September 2026 · every figure on these slides is read live from the app (/api/model)</a:t>
            </a:r>
            <a:endParaRPr lang="en-US" sz="1200" dirty="0"/>
          </a:p>
        </p:txBody>
      </p:sp>
      <p:pic>
        <p:nvPicPr>
          <p:cNvPr id="10" name="Image 2" descr="preencoded.png">    </p:cNvPr>
          <p:cNvPicPr>
            <a:picLocks noChangeAspect="1"/>
          </p:cNvPicPr>
          <p:nvPr/>
        </p:nvPicPr>
        <p:blipFill>
          <a:blip r:embed="rId3"/>
          <a:srcRect l="0" r="0" t="0" b="0"/>
          <a:stretch/>
        </p:blipFill>
        <p:spPr>
          <a:xfrm>
            <a:off x="11064240" y="6190488"/>
            <a:ext cx="329184" cy="301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THE PROBLEM</a:t>
            </a:r>
            <a:endParaRPr lang="en-US" sz="1300" dirty="0"/>
          </a:p>
        </p:txBody>
      </p:sp>
      <p:sp>
        <p:nvSpPr>
          <p:cNvPr id="3" name="Text 1"/>
          <p:cNvSpPr txBox="1"/>
          <p:nvPr/>
        </p:nvSpPr>
        <p:spPr>
          <a:xfrm>
            <a:off x="812902" y="1171346"/>
            <a:ext cx="10566806" cy="527685"/>
          </a:xfrm>
          <a:prstGeom prst="rect">
            <a:avLst/>
          </a:prstGeom>
          <a:noFill/>
          <a:ln/>
        </p:spPr>
        <p:txBody>
          <a:bodyPr wrap="square" lIns="0" tIns="0" rIns="0" bIns="0" rtlCol="0" anchor="t">
            <a:normAutofit/>
          </a:bodyPr>
          <a:lstStyle/>
          <a:p>
            <a:pPr algn="l" indent="0" marL="0">
              <a:lnSpc>
                <a:spcPts val="3795"/>
              </a:lnSpc>
              <a:buNone/>
            </a:pPr>
            <a:r>
              <a:rPr lang="en-US" altLang="en-US" sz="3300" b="1" dirty="0">
                <a:solidFill>
                  <a:srgbClr val="0E1310"/>
                </a:solidFill>
                <a:latin typeface="Domine" pitchFamily="34" charset="0"/>
                <a:ea typeface="Domine" pitchFamily="34" charset="-122"/>
                <a:cs typeface="Domine" pitchFamily="34" charset="-120"/>
              </a:rPr>
              <a:t>Spain has empty villages and abandoned land.</a:t>
            </a:r>
            <a:endParaRPr lang="en-US" sz="33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Sources: Wikipedia and idealista (population, age) · El Correo Gallego citing MAPA, 20 Mar 2026 (unused farmland) · El Correo Gallego, 20 Sep 2026 (owners)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preencoded.png">    </p:cNvPr>
          <p:cNvPicPr>
            <a:picLocks noChangeAspect="1"/>
          </p:cNvPicPr>
          <p:nvPr/>
        </p:nvPicPr>
        <p:blipFill>
          <a:blip r:embed="rId2"/>
          <a:stretch>
            <a:fillRect/>
          </a:stretch>
        </p:blipFill>
        <p:spPr>
          <a:xfrm>
            <a:off x="812902" y="2423160"/>
            <a:ext cx="457200" cy="457200"/>
          </a:xfrm>
          <a:prstGeom prst="rect">
            <a:avLst/>
          </a:prstGeom>
        </p:spPr>
      </p:pic>
      <p:sp>
        <p:nvSpPr>
          <p:cNvPr id="8" name="Text 3"/>
          <p:cNvSpPr txBox="1"/>
          <p:nvPr/>
        </p:nvSpPr>
        <p:spPr>
          <a:xfrm>
            <a:off x="812902" y="3063240"/>
            <a:ext cx="2468880" cy="685800"/>
          </a:xfrm>
          <a:prstGeom prst="rect">
            <a:avLst/>
          </a:prstGeom>
          <a:noFill/>
          <a:ln/>
        </p:spPr>
        <p:txBody>
          <a:bodyPr wrap="square" lIns="0" tIns="0" rIns="0" bIns="0" rtlCol="0" anchor="t">
            <a:normAutofit/>
          </a:bodyPr>
          <a:lstStyle/>
          <a:p>
            <a:pPr algn="l" indent="0" marL="0">
              <a:lnSpc>
                <a:spcPts val="4400"/>
              </a:lnSpc>
              <a:buNone/>
            </a:pPr>
            <a:r>
              <a:rPr lang="en-US" altLang="en-US" sz="4000" b="1" dirty="0">
                <a:solidFill>
                  <a:srgbClr val="0E1310"/>
                </a:solidFill>
                <a:latin typeface="Domine" pitchFamily="34" charset="0"/>
                <a:ea typeface="Domine" pitchFamily="34" charset="-122"/>
                <a:cs typeface="Domine" pitchFamily="34" charset="-120"/>
              </a:rPr>
              <a:t>510</a:t>
            </a:r>
            <a:endParaRPr lang="en-US" sz="4000" dirty="0"/>
          </a:p>
        </p:txBody>
      </p:sp>
      <p:sp>
        <p:nvSpPr>
          <p:cNvPr id="9" name="Text 4"/>
          <p:cNvSpPr txBox="1"/>
          <p:nvPr/>
        </p:nvSpPr>
        <p:spPr>
          <a:xfrm>
            <a:off x="812902" y="3840480"/>
            <a:ext cx="2377440" cy="1005840"/>
          </a:xfrm>
          <a:prstGeom prst="rect">
            <a:avLst/>
          </a:prstGeom>
          <a:noFill/>
          <a:ln/>
        </p:spPr>
        <p:txBody>
          <a:bodyPr wrap="square" lIns="0" tIns="0" rIns="0" bIns="0" rtlCol="0" anchor="t">
            <a:normAutofit/>
          </a:bodyPr>
          <a:lstStyle/>
          <a:p>
            <a:pPr algn="l" indent="0" marL="0">
              <a:lnSpc>
                <a:spcPts val="2050"/>
              </a:lnSpc>
              <a:buNone/>
            </a:pPr>
            <a:r>
              <a:rPr lang="en-US" altLang="en-US" sz="1400" dirty="0">
                <a:solidFill>
                  <a:srgbClr val="59605A"/>
                </a:solidFill>
                <a:latin typeface="Nunito Sans" pitchFamily="34" charset="0"/>
                <a:ea typeface="Nunito Sans" pitchFamily="34" charset="-122"/>
                <a:cs typeface="Nunito Sans" pitchFamily="34" charset="-120"/>
              </a:rPr>
              <a:t>residents in San Xoán de Río today, down from 3,000+ in the 1980s</a:t>
            </a:r>
            <a:endParaRPr lang="en-US" sz="1400" dirty="0"/>
          </a:p>
        </p:txBody>
      </p:sp>
      <p:pic>
        <p:nvPicPr>
          <p:cNvPr id="10" name="Image 2" descr="preencoded.png">    </p:cNvPr>
          <p:cNvPicPr>
            <a:picLocks noChangeAspect="1"/>
          </p:cNvPicPr>
          <p:nvPr/>
        </p:nvPicPr>
        <p:blipFill>
          <a:blip r:embed="rId3"/>
          <a:stretch>
            <a:fillRect/>
          </a:stretch>
        </p:blipFill>
        <p:spPr>
          <a:xfrm>
            <a:off x="3482950" y="2423160"/>
            <a:ext cx="457200" cy="457200"/>
          </a:xfrm>
          <a:prstGeom prst="rect">
            <a:avLst/>
          </a:prstGeom>
        </p:spPr>
      </p:pic>
      <p:sp>
        <p:nvSpPr>
          <p:cNvPr id="11" name="Text 5"/>
          <p:cNvSpPr txBox="1"/>
          <p:nvPr/>
        </p:nvSpPr>
        <p:spPr>
          <a:xfrm>
            <a:off x="3482950" y="3063240"/>
            <a:ext cx="2468880" cy="685800"/>
          </a:xfrm>
          <a:prstGeom prst="rect">
            <a:avLst/>
          </a:prstGeom>
          <a:noFill/>
          <a:ln/>
        </p:spPr>
        <p:txBody>
          <a:bodyPr wrap="square" lIns="0" tIns="0" rIns="0" bIns="0" rtlCol="0" anchor="t">
            <a:normAutofit/>
          </a:bodyPr>
          <a:lstStyle/>
          <a:p>
            <a:pPr algn="l" indent="0" marL="0">
              <a:lnSpc>
                <a:spcPts val="4400"/>
              </a:lnSpc>
              <a:buNone/>
            </a:pPr>
            <a:r>
              <a:rPr lang="en-US" altLang="en-US" sz="4000" b="1" dirty="0">
                <a:solidFill>
                  <a:srgbClr val="0E1310"/>
                </a:solidFill>
                <a:latin typeface="Domine" pitchFamily="34" charset="0"/>
                <a:ea typeface="Domine" pitchFamily="34" charset="-122"/>
                <a:cs typeface="Domine" pitchFamily="34" charset="-120"/>
              </a:rPr>
              <a:t>≈61</a:t>
            </a:r>
            <a:endParaRPr lang="en-US" sz="4000" dirty="0"/>
          </a:p>
        </p:txBody>
      </p:sp>
      <p:sp>
        <p:nvSpPr>
          <p:cNvPr id="12" name="Text 6"/>
          <p:cNvSpPr txBox="1"/>
          <p:nvPr/>
        </p:nvSpPr>
        <p:spPr>
          <a:xfrm>
            <a:off x="3482950" y="3840480"/>
            <a:ext cx="2377440" cy="1005840"/>
          </a:xfrm>
          <a:prstGeom prst="rect">
            <a:avLst/>
          </a:prstGeom>
          <a:noFill/>
          <a:ln/>
        </p:spPr>
        <p:txBody>
          <a:bodyPr wrap="square" lIns="0" tIns="0" rIns="0" bIns="0" rtlCol="0" anchor="t">
            <a:normAutofit/>
          </a:bodyPr>
          <a:lstStyle/>
          <a:p>
            <a:pPr algn="l" indent="0" marL="0">
              <a:lnSpc>
                <a:spcPts val="2050"/>
              </a:lnSpc>
              <a:buNone/>
            </a:pPr>
            <a:r>
              <a:rPr lang="en-US" altLang="en-US" sz="1400" dirty="0">
                <a:solidFill>
                  <a:srgbClr val="59605A"/>
                </a:solidFill>
                <a:latin typeface="Nunito Sans" pitchFamily="34" charset="0"/>
                <a:ea typeface="Nunito Sans" pitchFamily="34" charset="-122"/>
                <a:cs typeface="Nunito Sans" pitchFamily="34" charset="-120"/>
              </a:rPr>
              <a:t>average age in the village; nearly half of the neighbours are over 65</a:t>
            </a:r>
            <a:endParaRPr lang="en-US" sz="1400" dirty="0"/>
          </a:p>
        </p:txBody>
      </p:sp>
      <p:pic>
        <p:nvPicPr>
          <p:cNvPr id="13" name="Image 3" descr="preencoded.png">    </p:cNvPr>
          <p:cNvPicPr>
            <a:picLocks noChangeAspect="1"/>
          </p:cNvPicPr>
          <p:nvPr/>
        </p:nvPicPr>
        <p:blipFill>
          <a:blip r:embed="rId4"/>
          <a:stretch>
            <a:fillRect/>
          </a:stretch>
        </p:blipFill>
        <p:spPr>
          <a:xfrm>
            <a:off x="6152998" y="2423160"/>
            <a:ext cx="457200" cy="457200"/>
          </a:xfrm>
          <a:prstGeom prst="rect">
            <a:avLst/>
          </a:prstGeom>
        </p:spPr>
      </p:pic>
      <p:sp>
        <p:nvSpPr>
          <p:cNvPr id="14" name="Text 7"/>
          <p:cNvSpPr txBox="1"/>
          <p:nvPr/>
        </p:nvSpPr>
        <p:spPr>
          <a:xfrm>
            <a:off x="6152998" y="3063240"/>
            <a:ext cx="2468880" cy="685800"/>
          </a:xfrm>
          <a:prstGeom prst="rect">
            <a:avLst/>
          </a:prstGeom>
          <a:noFill/>
          <a:ln/>
        </p:spPr>
        <p:txBody>
          <a:bodyPr wrap="square" lIns="0" tIns="0" rIns="0" bIns="0" rtlCol="0" anchor="t">
            <a:normAutofit/>
          </a:bodyPr>
          <a:lstStyle/>
          <a:p>
            <a:pPr algn="l" indent="0" marL="0">
              <a:lnSpc>
                <a:spcPts val="4400"/>
              </a:lnSpc>
              <a:buNone/>
            </a:pPr>
            <a:r>
              <a:rPr lang="en-US" altLang="en-US" sz="4000" b="1" dirty="0">
                <a:solidFill>
                  <a:srgbClr val="6F8A18"/>
                </a:solidFill>
                <a:latin typeface="Domine" pitchFamily="34" charset="0"/>
                <a:ea typeface="Domine" pitchFamily="34" charset="-122"/>
                <a:cs typeface="Domine" pitchFamily="34" charset="-120"/>
              </a:rPr>
              <a:t>35.7%</a:t>
            </a:r>
            <a:endParaRPr lang="en-US" sz="4000" dirty="0"/>
          </a:p>
        </p:txBody>
      </p:sp>
      <p:sp>
        <p:nvSpPr>
          <p:cNvPr id="15" name="Text 8"/>
          <p:cNvSpPr txBox="1"/>
          <p:nvPr/>
        </p:nvSpPr>
        <p:spPr>
          <a:xfrm>
            <a:off x="6152998" y="3840480"/>
            <a:ext cx="2377440" cy="1005840"/>
          </a:xfrm>
          <a:prstGeom prst="rect">
            <a:avLst/>
          </a:prstGeom>
          <a:noFill/>
          <a:ln/>
        </p:spPr>
        <p:txBody>
          <a:bodyPr wrap="square" lIns="0" tIns="0" rIns="0" bIns="0" rtlCol="0" anchor="t">
            <a:normAutofit/>
          </a:bodyPr>
          <a:lstStyle/>
          <a:p>
            <a:pPr algn="l" indent="0" marL="0">
              <a:lnSpc>
                <a:spcPts val="2050"/>
              </a:lnSpc>
              <a:buNone/>
            </a:pPr>
            <a:r>
              <a:rPr lang="en-US" altLang="en-US" sz="1400" dirty="0">
                <a:solidFill>
                  <a:srgbClr val="59605A"/>
                </a:solidFill>
                <a:latin typeface="Nunito Sans" pitchFamily="34" charset="0"/>
                <a:ea typeface="Nunito Sans" pitchFamily="34" charset="-122"/>
                <a:cs typeface="Nunito Sans" pitchFamily="34" charset="-120"/>
              </a:rPr>
              <a:t>of Galicia's farmland is unused or abandoned, the highest share in Spain</a:t>
            </a:r>
            <a:endParaRPr lang="en-US" sz="1400" dirty="0"/>
          </a:p>
        </p:txBody>
      </p:sp>
      <p:pic>
        <p:nvPicPr>
          <p:cNvPr id="16" name="Image 4" descr="preencoded.png">    </p:cNvPr>
          <p:cNvPicPr>
            <a:picLocks noChangeAspect="1"/>
          </p:cNvPicPr>
          <p:nvPr/>
        </p:nvPicPr>
        <p:blipFill>
          <a:blip r:embed="rId5"/>
          <a:stretch>
            <a:fillRect/>
          </a:stretch>
        </p:blipFill>
        <p:spPr>
          <a:xfrm>
            <a:off x="8823046" y="2423160"/>
            <a:ext cx="457200" cy="457200"/>
          </a:xfrm>
          <a:prstGeom prst="rect">
            <a:avLst/>
          </a:prstGeom>
        </p:spPr>
      </p:pic>
      <p:sp>
        <p:nvSpPr>
          <p:cNvPr id="17" name="Text 9"/>
          <p:cNvSpPr txBox="1"/>
          <p:nvPr/>
        </p:nvSpPr>
        <p:spPr>
          <a:xfrm>
            <a:off x="8823046" y="3063240"/>
            <a:ext cx="2468880" cy="685800"/>
          </a:xfrm>
          <a:prstGeom prst="rect">
            <a:avLst/>
          </a:prstGeom>
          <a:noFill/>
          <a:ln/>
        </p:spPr>
        <p:txBody>
          <a:bodyPr wrap="square" lIns="0" tIns="0" rIns="0" bIns="0" rtlCol="0" anchor="t">
            <a:normAutofit/>
          </a:bodyPr>
          <a:lstStyle/>
          <a:p>
            <a:pPr algn="l" indent="0" marL="0">
              <a:lnSpc>
                <a:spcPts val="4400"/>
              </a:lnSpc>
              <a:buNone/>
            </a:pPr>
            <a:r>
              <a:rPr lang="en-US" altLang="en-US" sz="4000" b="1" dirty="0">
                <a:solidFill>
                  <a:srgbClr val="6F8A18"/>
                </a:solidFill>
                <a:latin typeface="Domine" pitchFamily="34" charset="0"/>
                <a:ea typeface="Domine" pitchFamily="34" charset="-122"/>
                <a:cs typeface="Domine" pitchFamily="34" charset="-120"/>
              </a:rPr>
              <a:t>1.7 M</a:t>
            </a:r>
            <a:endParaRPr lang="en-US" sz="4000" dirty="0"/>
          </a:p>
        </p:txBody>
      </p:sp>
      <p:sp>
        <p:nvSpPr>
          <p:cNvPr id="18" name="Text 10"/>
          <p:cNvSpPr txBox="1"/>
          <p:nvPr/>
        </p:nvSpPr>
        <p:spPr>
          <a:xfrm>
            <a:off x="8823046" y="3840480"/>
            <a:ext cx="2377440" cy="1005840"/>
          </a:xfrm>
          <a:prstGeom prst="rect">
            <a:avLst/>
          </a:prstGeom>
          <a:noFill/>
          <a:ln/>
        </p:spPr>
        <p:txBody>
          <a:bodyPr wrap="square" lIns="0" tIns="0" rIns="0" bIns="0" rtlCol="0" anchor="t">
            <a:normAutofit/>
          </a:bodyPr>
          <a:lstStyle/>
          <a:p>
            <a:pPr algn="l" indent="0" marL="0">
              <a:lnSpc>
                <a:spcPts val="2050"/>
              </a:lnSpc>
              <a:buNone/>
            </a:pPr>
            <a:r>
              <a:rPr lang="en-US" altLang="en-US" sz="1400" dirty="0">
                <a:solidFill>
                  <a:srgbClr val="59605A"/>
                </a:solidFill>
                <a:latin typeface="Nunito Sans" pitchFamily="34" charset="0"/>
                <a:ea typeface="Nunito Sans" pitchFamily="34" charset="-122"/>
                <a:cs typeface="Nunito Sans" pitchFamily="34" charset="-120"/>
              </a:rPr>
              <a:t>owners of rural land in Galicia, against about 44,000 people who farm it</a:t>
            </a:r>
            <a:endParaRPr lang="en-US" sz="1400" dirty="0"/>
          </a:p>
        </p:txBody>
      </p:sp>
      <p:sp>
        <p:nvSpPr>
          <p:cNvPr id="19" name="Text 11"/>
          <p:cNvSpPr txBox="1"/>
          <p:nvPr/>
        </p:nvSpPr>
        <p:spPr>
          <a:xfrm>
            <a:off x="812902" y="5257800"/>
            <a:ext cx="10149840" cy="640080"/>
          </a:xfrm>
          <a:prstGeom prst="rect">
            <a:avLst/>
          </a:prstGeom>
          <a:noFill/>
          <a:ln/>
        </p:spPr>
        <p:txBody>
          <a:bodyPr wrap="square" lIns="0" tIns="0" rIns="0" bIns="0" rtlCol="0" anchor="t">
            <a:normAutofit/>
          </a:bodyPr>
          <a:lstStyle/>
          <a:p>
            <a:pPr algn="l" indent="0" marL="0">
              <a:lnSpc>
                <a:spcPts val="2400"/>
              </a:lnSpc>
              <a:buNone/>
            </a:pPr>
            <a:r>
              <a:rPr lang="en-US" altLang="en-US" sz="1700" dirty="0">
                <a:solidFill>
                  <a:srgbClr val="0E1310"/>
                </a:solidFill>
                <a:latin typeface="Nunito Sans" pitchFamily="34" charset="0"/>
                <a:ea typeface="Nunito Sans" pitchFamily="34" charset="-122"/>
                <a:cs typeface="Nunito Sans" pitchFamily="34" charset="-120"/>
              </a:rPr>
              <a:t>The Xunta's own answer in this municipality, the Cambela polygon, needs 135 owners to agree on 96 hectares. Ownership is the bottleneck, not the land.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10"/>
        </a:solidFill>
      </p:bgPr>
    </p:bg>
    <p:spTree>
      <p:nvGrpSpPr>
        <p:cNvPr id="1" name=""/>
        <p:cNvGrpSpPr/>
        <p:nvPr/>
      </p:nvGrpSpPr>
      <p:grpSpPr>
        <a:xfrm>
          <a:off x="0" y="0"/>
          <a:ext cx="0" cy="0"/>
          <a:chOff x="0" y="0"/>
          <a:chExt cx="0" cy="0"/>
        </a:xfrm>
      </p:grpSpPr>
      <p:pic>
        <p:nvPicPr>
          <p:cNvPr id="2"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4" name="Text 0"/>
          <p:cNvSpPr txBox="1"/>
          <p:nvPr/>
        </p:nvSpPr>
        <p:spPr>
          <a:xfrm>
            <a:off x="812902" y="1685239"/>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THE INSIGHT</a:t>
            </a:r>
            <a:endParaRPr lang="en-US" sz="1300" dirty="0"/>
          </a:p>
        </p:txBody>
      </p:sp>
      <p:sp>
        <p:nvSpPr>
          <p:cNvPr id="5" name="Text 1"/>
          <p:cNvSpPr txBox="1"/>
          <p:nvPr/>
        </p:nvSpPr>
        <p:spPr>
          <a:xfrm>
            <a:off x="812902" y="2221078"/>
            <a:ext cx="10137953" cy="1280160"/>
          </a:xfrm>
          <a:prstGeom prst="rect">
            <a:avLst/>
          </a:prstGeom>
          <a:noFill/>
          <a:ln/>
        </p:spPr>
        <p:txBody>
          <a:bodyPr wrap="square" lIns="0" tIns="0" rIns="0" bIns="0" rtlCol="0" anchor="t">
            <a:normAutofit/>
          </a:bodyPr>
          <a:lstStyle/>
          <a:p>
            <a:pPr algn="l" indent="0" marL="0">
              <a:lnSpc>
                <a:spcPts val="4950"/>
              </a:lnSpc>
              <a:buNone/>
            </a:pPr>
            <a:r>
              <a:rPr lang="en-US" altLang="en-US" sz="4300" b="1" dirty="0">
                <a:solidFill>
                  <a:srgbClr val="E9EBE4"/>
                </a:solidFill>
                <a:latin typeface="Domine" pitchFamily="34" charset="0"/>
                <a:ea typeface="Domine" pitchFamily="34" charset="-122"/>
                <a:cs typeface="Domine" pitchFamily="34" charset="-120"/>
              </a:rPr>
              <a:t>The village isn't short of assets. It's short of a host.</a:t>
            </a:r>
            <a:endParaRPr lang="en-US" sz="4300" dirty="0"/>
          </a:p>
        </p:txBody>
      </p:sp>
      <p:sp>
        <p:nvSpPr>
          <p:cNvPr id="6" name="Text 2"/>
          <p:cNvSpPr txBox="1"/>
          <p:nvPr/>
        </p:nvSpPr>
        <p:spPr>
          <a:xfrm>
            <a:off x="812902" y="3781958"/>
            <a:ext cx="9484157" cy="822960"/>
          </a:xfrm>
          <a:prstGeom prst="rect">
            <a:avLst/>
          </a:prstGeom>
          <a:noFill/>
          <a:ln/>
        </p:spPr>
        <p:txBody>
          <a:bodyPr wrap="square" lIns="0" tIns="0" rIns="0" bIns="0" rtlCol="0" anchor="t">
            <a:normAutofit/>
          </a:bodyPr>
          <a:lstStyle/>
          <a:p>
            <a:pPr algn="l" indent="0" marL="0">
              <a:lnSpc>
                <a:spcPts val="2850"/>
              </a:lnSpc>
              <a:buNone/>
            </a:pPr>
            <a:r>
              <a:rPr lang="en-US" altLang="en-US" sz="1900" dirty="0">
                <a:solidFill>
                  <a:srgbClr val="A9B6A8"/>
                </a:solidFill>
                <a:latin typeface="Nunito Sans" pitchFamily="34" charset="0"/>
                <a:ea typeface="Nunito Sans" pitchFamily="34" charset="-122"/>
                <a:cs typeface="Nunito Sans" pitchFamily="34" charset="-120"/>
              </a:rPr>
              <a:t>Empty stone houses. Parcels nobody has touched since the 2000s. Cooks, guides and musicians with nobody booking them. A public land polygon waiting for 135 signatures.</a:t>
            </a:r>
            <a:endParaRPr lang="en-US" sz="1900" dirty="0"/>
          </a:p>
        </p:txBody>
      </p:sp>
      <p:sp>
        <p:nvSpPr>
          <p:cNvPr id="7" name="Text 3"/>
          <p:cNvSpPr txBox="1"/>
          <p:nvPr/>
        </p:nvSpPr>
        <p:spPr>
          <a:xfrm>
            <a:off x="812902" y="4810658"/>
            <a:ext cx="9484157" cy="387706"/>
          </a:xfrm>
          <a:prstGeom prst="rect">
            <a:avLst/>
          </a:prstGeom>
          <a:noFill/>
          <a:ln/>
        </p:spPr>
        <p:txBody>
          <a:bodyPr wrap="square" lIns="0" tIns="0" rIns="0" bIns="0" rtlCol="0" anchor="t">
            <a:normAutofit/>
          </a:bodyPr>
          <a:lstStyle/>
          <a:p>
            <a:pPr algn="l" indent="0" marL="0">
              <a:lnSpc>
                <a:spcPts val="2850"/>
              </a:lnSpc>
              <a:buNone/>
            </a:pPr>
            <a:r>
              <a:rPr lang="en-US" altLang="en-US" sz="1900" dirty="0">
                <a:solidFill>
                  <a:srgbClr val="E9EBE4"/>
                </a:solidFill>
                <a:latin typeface="Nunito Sans" pitchFamily="34" charset="0"/>
                <a:ea typeface="Nunito Sans" pitchFamily="34" charset="-122"/>
                <a:cs typeface="Nunito Sans" pitchFamily="34" charset="-120"/>
              </a:rPr>
              <a:t>So the assets sit idle, and visitors come for a weekend.</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THE SOLUTION</a:t>
            </a:r>
            <a:endParaRPr lang="en-US" sz="1300" dirty="0"/>
          </a:p>
        </p:txBody>
      </p:sp>
      <p:sp>
        <p:nvSpPr>
          <p:cNvPr id="3" name="Text 1"/>
          <p:cNvSpPr txBox="1"/>
          <p:nvPr/>
        </p:nvSpPr>
        <p:spPr>
          <a:xfrm>
            <a:off x="812902" y="1171346"/>
            <a:ext cx="10566806" cy="571500"/>
          </a:xfrm>
          <a:prstGeom prst="rect">
            <a:avLst/>
          </a:prstGeom>
          <a:noFill/>
          <a:ln/>
        </p:spPr>
        <p:txBody>
          <a:bodyPr wrap="square" lIns="0" tIns="0" rIns="0" bIns="0" rtlCol="0" anchor="t">
            <a:normAutofit/>
          </a:bodyPr>
          <a:lstStyle/>
          <a:p>
            <a:pPr algn="l" indent="0" marL="0">
              <a:lnSpc>
                <a:spcPts val="4140"/>
              </a:lnSpc>
              <a:buNone/>
            </a:pPr>
            <a:r>
              <a:rPr lang="en-US" altLang="en-US" sz="3600" b="1" dirty="0">
                <a:solidFill>
                  <a:srgbClr val="0E1310"/>
                </a:solidFill>
                <a:latin typeface="Domine" pitchFamily="34" charset="0"/>
                <a:ea typeface="Domine" pitchFamily="34" charset="-122"/>
                <a:cs typeface="Domine" pitchFamily="34" charset="-120"/>
              </a:rPr>
              <a:t>One local host puts every resource to work.</a:t>
            </a:r>
            <a:endParaRPr lang="en-US" sz="36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Packages are per person for experiences; lodging is booked with the owner · leases follow Ley 49/2003 (5 years minimum)</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514600"/>
            <a:ext cx="3410712" cy="2606040"/>
          </a:xfrm>
          <a:prstGeom prst="roundRect">
            <a:avLst>
              <a:gd name="adj" fmla="val 4386"/>
            </a:avLst>
          </a:prstGeom>
          <a:solidFill>
            <a:srgbClr val="DCE0D3"/>
          </a:solidFill>
          <a:ln w="12700">
            <a:solidFill>
              <a:srgbClr val="DCE0D3"/>
            </a:solidFill>
            <a:prstDash val="solid"/>
          </a:ln>
        </p:spPr>
      </p:sp>
      <p:pic>
        <p:nvPicPr>
          <p:cNvPr id="8" name="Image 1" descr="preencoded.png">    </p:cNvPr>
          <p:cNvPicPr>
            <a:picLocks noChangeAspect="1"/>
          </p:cNvPicPr>
          <p:nvPr/>
        </p:nvPicPr>
        <p:blipFill>
          <a:blip r:embed="rId2"/>
          <a:stretch>
            <a:fillRect/>
          </a:stretch>
        </p:blipFill>
        <p:spPr>
          <a:xfrm>
            <a:off x="1041502" y="2743200"/>
            <a:ext cx="304495" cy="304495"/>
          </a:xfrm>
          <a:prstGeom prst="rect">
            <a:avLst/>
          </a:prstGeom>
        </p:spPr>
      </p:pic>
      <p:sp>
        <p:nvSpPr>
          <p:cNvPr id="9" name="Text 4"/>
          <p:cNvSpPr txBox="1"/>
          <p:nvPr/>
        </p:nvSpPr>
        <p:spPr>
          <a:xfrm>
            <a:off x="1041502" y="3154680"/>
            <a:ext cx="2953512" cy="384048"/>
          </a:xfrm>
          <a:prstGeom prst="rect">
            <a:avLst/>
          </a:prstGeom>
          <a:noFill/>
          <a:ln/>
        </p:spPr>
        <p:txBody>
          <a:bodyPr wrap="square" lIns="0" tIns="0" rIns="0" bIns="0" rtlCol="0" anchor="t">
            <a:normAutofit/>
          </a:bodyPr>
          <a:lstStyle/>
          <a:p>
            <a:pPr algn="l" indent="0" marL="0">
              <a:lnSpc>
                <a:spcPts val="3000"/>
              </a:lnSpc>
              <a:buNone/>
            </a:pPr>
            <a:r>
              <a:rPr lang="en-US" altLang="en-US" sz="2200" b="1" dirty="0">
                <a:solidFill>
                  <a:srgbClr val="0E1310"/>
                </a:solidFill>
                <a:latin typeface="Domine" pitchFamily="34" charset="0"/>
                <a:ea typeface="Domine" pitchFamily="34" charset="-122"/>
                <a:cs typeface="Domine" pitchFamily="34" charset="-120"/>
              </a:rPr>
              <a:t>Stay</a:t>
            </a:r>
            <a:endParaRPr lang="en-US" sz="2200" dirty="0"/>
          </a:p>
        </p:txBody>
      </p:sp>
      <p:sp>
        <p:nvSpPr>
          <p:cNvPr id="10" name="Text 5"/>
          <p:cNvSpPr txBox="1"/>
          <p:nvPr/>
        </p:nvSpPr>
        <p:spPr>
          <a:xfrm>
            <a:off x="1041502" y="3611880"/>
            <a:ext cx="2953512" cy="105156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59605A"/>
                </a:solidFill>
                <a:latin typeface="Nunito Sans" pitchFamily="34" charset="0"/>
                <a:ea typeface="Nunito Sans" pitchFamily="34" charset="-122"/>
                <a:cs typeface="Nunito Sans" pitchFamily="34" charset="-120"/>
              </a:rPr>
              <a:t>Packages of a week, a month or a season. Our stone house let whole; villagers' houses at a 15% commission.</a:t>
            </a:r>
            <a:endParaRPr lang="en-US" sz="1350" dirty="0"/>
          </a:p>
        </p:txBody>
      </p:sp>
      <p:sp>
        <p:nvSpPr>
          <p:cNvPr id="11" name="Text 6"/>
          <p:cNvSpPr txBox="1"/>
          <p:nvPr/>
        </p:nvSpPr>
        <p:spPr>
          <a:xfrm>
            <a:off x="1041502" y="4709160"/>
            <a:ext cx="2953512" cy="25603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6F8A18"/>
                </a:solidFill>
                <a:latin typeface="Nunito Sans" pitchFamily="34" charset="0"/>
                <a:ea typeface="Nunito Sans" pitchFamily="34" charset="-122"/>
                <a:cs typeface="Nunito Sans" pitchFamily="34" charset="-120"/>
              </a:rPr>
              <a:t>from €220 per person</a:t>
            </a:r>
            <a:endParaRPr lang="en-US" sz="1250" dirty="0"/>
          </a:p>
        </p:txBody>
      </p:sp>
      <p:sp>
        <p:nvSpPr>
          <p:cNvPr id="12" name="Shape 7"/>
          <p:cNvSpPr/>
          <p:nvPr/>
        </p:nvSpPr>
        <p:spPr>
          <a:xfrm>
            <a:off x="4397350" y="2514600"/>
            <a:ext cx="3410712" cy="2606040"/>
          </a:xfrm>
          <a:prstGeom prst="roundRect">
            <a:avLst>
              <a:gd name="adj" fmla="val 4386"/>
            </a:avLst>
          </a:prstGeom>
          <a:solidFill>
            <a:srgbClr val="DCE0D3"/>
          </a:solidFill>
          <a:ln w="12700">
            <a:solidFill>
              <a:srgbClr val="DCE0D3"/>
            </a:solidFill>
            <a:prstDash val="solid"/>
          </a:ln>
        </p:spPr>
      </p:sp>
      <p:pic>
        <p:nvPicPr>
          <p:cNvPr id="13" name="Image 2" descr="preencoded.png">    </p:cNvPr>
          <p:cNvPicPr>
            <a:picLocks noChangeAspect="1"/>
          </p:cNvPicPr>
          <p:nvPr/>
        </p:nvPicPr>
        <p:blipFill>
          <a:blip r:embed="rId3"/>
          <a:stretch>
            <a:fillRect/>
          </a:stretch>
        </p:blipFill>
        <p:spPr>
          <a:xfrm>
            <a:off x="4625950" y="2743200"/>
            <a:ext cx="304495" cy="304495"/>
          </a:xfrm>
          <a:prstGeom prst="rect">
            <a:avLst/>
          </a:prstGeom>
        </p:spPr>
      </p:pic>
      <p:sp>
        <p:nvSpPr>
          <p:cNvPr id="14" name="Text 8"/>
          <p:cNvSpPr txBox="1"/>
          <p:nvPr/>
        </p:nvSpPr>
        <p:spPr>
          <a:xfrm>
            <a:off x="4625950" y="3154680"/>
            <a:ext cx="2953512" cy="384048"/>
          </a:xfrm>
          <a:prstGeom prst="rect">
            <a:avLst/>
          </a:prstGeom>
          <a:noFill/>
          <a:ln/>
        </p:spPr>
        <p:txBody>
          <a:bodyPr wrap="square" lIns="0" tIns="0" rIns="0" bIns="0" rtlCol="0" anchor="t">
            <a:normAutofit/>
          </a:bodyPr>
          <a:lstStyle/>
          <a:p>
            <a:pPr algn="l" indent="0" marL="0">
              <a:lnSpc>
                <a:spcPts val="3000"/>
              </a:lnSpc>
              <a:buNone/>
            </a:pPr>
            <a:r>
              <a:rPr lang="en-US" altLang="en-US" sz="2200" b="1" dirty="0">
                <a:solidFill>
                  <a:srgbClr val="0E1310"/>
                </a:solidFill>
                <a:latin typeface="Domine" pitchFamily="34" charset="0"/>
                <a:ea typeface="Domine" pitchFamily="34" charset="-122"/>
                <a:cs typeface="Domine" pitchFamily="34" charset="-120"/>
              </a:rPr>
              <a:t>Celebrate</a:t>
            </a:r>
            <a:endParaRPr lang="en-US" sz="2200" dirty="0"/>
          </a:p>
        </p:txBody>
      </p:sp>
      <p:sp>
        <p:nvSpPr>
          <p:cNvPr id="15" name="Text 9"/>
          <p:cNvSpPr txBox="1"/>
          <p:nvPr/>
        </p:nvSpPr>
        <p:spPr>
          <a:xfrm>
            <a:off x="4625950" y="3611880"/>
            <a:ext cx="2953512" cy="105156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59605A"/>
                </a:solidFill>
                <a:latin typeface="Nunito Sans" pitchFamily="34" charset="0"/>
                <a:ea typeface="Nunito Sans" pitchFamily="34" charset="-122"/>
                <a:cs typeface="Nunito Sans" pitchFamily="34" charset="-120"/>
              </a:rPr>
              <a:t>Birthdays, retreats and magostos on villagers' land, groves and cellars, with local cooks and musicians.</a:t>
            </a:r>
            <a:endParaRPr lang="en-US" sz="1350" dirty="0"/>
          </a:p>
        </p:txBody>
      </p:sp>
      <p:sp>
        <p:nvSpPr>
          <p:cNvPr id="16" name="Text 10"/>
          <p:cNvSpPr txBox="1"/>
          <p:nvPr/>
        </p:nvSpPr>
        <p:spPr>
          <a:xfrm>
            <a:off x="4625950" y="4709160"/>
            <a:ext cx="2953512" cy="25603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6F8A18"/>
                </a:solidFill>
                <a:latin typeface="Nunito Sans" pitchFamily="34" charset="0"/>
                <a:ea typeface="Nunito Sans" pitchFamily="34" charset="-122"/>
                <a:cs typeface="Nunito Sans" pitchFamily="34" charset="-120"/>
              </a:rPr>
              <a:t>≈€2,000 per event</a:t>
            </a:r>
            <a:endParaRPr lang="en-US" sz="1250" dirty="0"/>
          </a:p>
        </p:txBody>
      </p:sp>
      <p:sp>
        <p:nvSpPr>
          <p:cNvPr id="17" name="Shape 11"/>
          <p:cNvSpPr/>
          <p:nvPr/>
        </p:nvSpPr>
        <p:spPr>
          <a:xfrm>
            <a:off x="7981798" y="2514600"/>
            <a:ext cx="3410712" cy="2606040"/>
          </a:xfrm>
          <a:prstGeom prst="roundRect">
            <a:avLst>
              <a:gd name="adj" fmla="val 4386"/>
            </a:avLst>
          </a:prstGeom>
          <a:solidFill>
            <a:srgbClr val="2F5D4A"/>
          </a:solidFill>
          <a:ln w="12700">
            <a:solidFill>
              <a:srgbClr val="2F5D4A"/>
            </a:solidFill>
            <a:prstDash val="solid"/>
          </a:ln>
        </p:spPr>
      </p:sp>
      <p:pic>
        <p:nvPicPr>
          <p:cNvPr id="18" name="Image 3" descr="preencoded.png">    </p:cNvPr>
          <p:cNvPicPr>
            <a:picLocks noChangeAspect="1"/>
          </p:cNvPicPr>
          <p:nvPr/>
        </p:nvPicPr>
        <p:blipFill>
          <a:blip r:embed="rId4"/>
          <a:stretch>
            <a:fillRect/>
          </a:stretch>
        </p:blipFill>
        <p:spPr>
          <a:xfrm>
            <a:off x="8210398" y="2743200"/>
            <a:ext cx="304495" cy="304495"/>
          </a:xfrm>
          <a:prstGeom prst="rect">
            <a:avLst/>
          </a:prstGeom>
        </p:spPr>
      </p:pic>
      <p:sp>
        <p:nvSpPr>
          <p:cNvPr id="19" name="Text 12"/>
          <p:cNvSpPr txBox="1"/>
          <p:nvPr/>
        </p:nvSpPr>
        <p:spPr>
          <a:xfrm>
            <a:off x="8210398" y="3154680"/>
            <a:ext cx="2953512" cy="384048"/>
          </a:xfrm>
          <a:prstGeom prst="rect">
            <a:avLst/>
          </a:prstGeom>
          <a:noFill/>
          <a:ln/>
        </p:spPr>
        <p:txBody>
          <a:bodyPr wrap="square" lIns="0" tIns="0" rIns="0" bIns="0" rtlCol="0" anchor="t">
            <a:normAutofit/>
          </a:bodyPr>
          <a:lstStyle/>
          <a:p>
            <a:pPr algn="l" indent="0" marL="0">
              <a:lnSpc>
                <a:spcPts val="3000"/>
              </a:lnSpc>
              <a:buNone/>
            </a:pPr>
            <a:r>
              <a:rPr lang="en-US" altLang="en-US" sz="2200" b="1" dirty="0">
                <a:solidFill>
                  <a:srgbClr val="E9EBE4"/>
                </a:solidFill>
                <a:latin typeface="Domine" pitchFamily="34" charset="0"/>
                <a:ea typeface="Domine" pitchFamily="34" charset="-122"/>
                <a:cs typeface="Domine" pitchFamily="34" charset="-120"/>
              </a:rPr>
              <a:t>Farm</a:t>
            </a:r>
            <a:endParaRPr lang="en-US" sz="2200" dirty="0"/>
          </a:p>
        </p:txBody>
      </p:sp>
      <p:sp>
        <p:nvSpPr>
          <p:cNvPr id="20" name="Text 13"/>
          <p:cNvSpPr txBox="1"/>
          <p:nvPr/>
        </p:nvSpPr>
        <p:spPr>
          <a:xfrm>
            <a:off x="8210398" y="3611880"/>
            <a:ext cx="2953512" cy="105156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A9B6A8"/>
                </a:solidFill>
                <a:latin typeface="Nunito Sans" pitchFamily="34" charset="0"/>
                <a:ea typeface="Nunito Sans" pitchFamily="34" charset="-122"/>
                <a:cs typeface="Nunito Sans" pitchFamily="34" charset="-120"/>
              </a:rPr>
              <a:t>Villagers' abandoned parcels leased for 5 to 25 years to chestnut, organic, cattle and beekeeping projects.</a:t>
            </a:r>
            <a:endParaRPr lang="en-US" sz="1350" dirty="0"/>
          </a:p>
        </p:txBody>
      </p:sp>
      <p:sp>
        <p:nvSpPr>
          <p:cNvPr id="21" name="Text 14"/>
          <p:cNvSpPr txBox="1"/>
          <p:nvPr/>
        </p:nvSpPr>
        <p:spPr>
          <a:xfrm>
            <a:off x="8210398" y="4709160"/>
            <a:ext cx="2953512" cy="25603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B8CC5E"/>
                </a:solidFill>
                <a:latin typeface="Nunito Sans" pitchFamily="34" charset="0"/>
                <a:ea typeface="Nunito Sans" pitchFamily="34" charset="-122"/>
                <a:cs typeface="Nunito Sans" pitchFamily="34" charset="-120"/>
              </a:rPr>
              <a:t>≈€172/ha a year + fees</a:t>
            </a:r>
            <a:endParaRPr lang="en-US" sz="1250" dirty="0"/>
          </a:p>
        </p:txBody>
      </p:sp>
      <p:sp>
        <p:nvSpPr>
          <p:cNvPr id="22" name="Text 15"/>
          <p:cNvSpPr txBox="1"/>
          <p:nvPr/>
        </p:nvSpPr>
        <p:spPr>
          <a:xfrm>
            <a:off x="812902" y="5394960"/>
            <a:ext cx="10149840" cy="640080"/>
          </a:xfrm>
          <a:prstGeom prst="rect">
            <a:avLst/>
          </a:prstGeom>
          <a:noFill/>
          <a:ln/>
        </p:spPr>
        <p:txBody>
          <a:bodyPr wrap="square" lIns="0" tIns="0" rIns="0" bIns="0" rtlCol="0" anchor="t">
            <a:normAutofit/>
          </a:bodyPr>
          <a:lstStyle/>
          <a:p>
            <a:pPr algn="l" indent="0" marL="0">
              <a:lnSpc>
                <a:spcPts val="2400"/>
              </a:lnSpc>
              <a:buNone/>
            </a:pPr>
            <a:r>
              <a:rPr lang="en-US" altLang="en-US" sz="1700" dirty="0">
                <a:solidFill>
                  <a:srgbClr val="0E1310"/>
                </a:solidFill>
                <a:latin typeface="Nunito Sans" pitchFamily="34" charset="0"/>
                <a:ea typeface="Nunito Sans" pitchFamily="34" charset="-122"/>
                <a:cs typeface="Nunito Sans" pitchFamily="34" charset="-120"/>
              </a:rPr>
              <a:t>Every product pays a villager first: 85% of a house rent, 80% of a venue fee, 85% of the land rent. We never own the land.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THE PRODUCT</a:t>
            </a:r>
            <a:endParaRPr lang="en-US" sz="1300" dirty="0"/>
          </a:p>
        </p:txBody>
      </p:sp>
      <p:sp>
        <p:nvSpPr>
          <p:cNvPr id="3" name="Text 1"/>
          <p:cNvSpPr txBox="1"/>
          <p:nvPr/>
        </p:nvSpPr>
        <p:spPr>
          <a:xfrm>
            <a:off x="812902" y="1171346"/>
            <a:ext cx="10566806" cy="513080"/>
          </a:xfrm>
          <a:prstGeom prst="rect">
            <a:avLst/>
          </a:prstGeom>
          <a:noFill/>
          <a:ln/>
        </p:spPr>
        <p:txBody>
          <a:bodyPr wrap="square" lIns="0" tIns="0" rIns="0" bIns="0" rtlCol="0" anchor="t">
            <a:normAutofit/>
          </a:bodyPr>
          <a:lstStyle/>
          <a:p>
            <a:pPr algn="l" indent="0" marL="0">
              <a:lnSpc>
                <a:spcPts val="3680"/>
              </a:lnSpc>
              <a:buNone/>
            </a:pPr>
            <a:r>
              <a:rPr lang="en-US" altLang="en-US" sz="3200" b="1" dirty="0">
                <a:solidFill>
                  <a:srgbClr val="0E1310"/>
                </a:solidFill>
                <a:latin typeface="Domine" pitchFamily="34" charset="0"/>
                <a:ea typeface="Domine" pitchFamily="34" charset="-122"/>
                <a:cs typeface="Domine" pitchFamily="34" charset="-120"/>
              </a:rPr>
              <a:t>What a project pays for, and what a guest pays for.</a:t>
            </a:r>
            <a:endParaRPr lang="en-US" sz="32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Galicia's average farmland rent: €172/ha a year (MAPA, 2023) · Anceu rural coliving from €882/month · Rural Valley campus €350/month, founders only</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preencoded.png">    </p:cNvPr>
          <p:cNvPicPr>
            <a:picLocks noChangeAspect="1"/>
          </p:cNvPicPr>
          <p:nvPr/>
        </p:nvPicPr>
        <p:blipFill>
          <a:blip r:embed="rId2"/>
          <a:stretch>
            <a:fillRect/>
          </a:stretch>
        </p:blipFill>
        <p:spPr>
          <a:xfrm>
            <a:off x="812902" y="2350008"/>
            <a:ext cx="228600" cy="228600"/>
          </a:xfrm>
          <a:prstGeom prst="rect">
            <a:avLst/>
          </a:prstGeom>
        </p:spPr>
      </p:pic>
      <p:sp>
        <p:nvSpPr>
          <p:cNvPr id="8" name="Text 3"/>
          <p:cNvSpPr txBox="1"/>
          <p:nvPr/>
        </p:nvSpPr>
        <p:spPr>
          <a:xfrm>
            <a:off x="1178662" y="2331720"/>
            <a:ext cx="5760720" cy="292608"/>
          </a:xfrm>
          <a:prstGeom prst="rect">
            <a:avLst/>
          </a:prstGeom>
          <a:noFill/>
          <a:ln/>
        </p:spPr>
        <p:txBody>
          <a:bodyPr wrap="square" lIns="0" tIns="0" rIns="0" bIns="0" rtlCol="0" anchor="t">
            <a:normAutofit/>
          </a:bodyPr>
          <a:lstStyle/>
          <a:p>
            <a:pPr algn="l" indent="0" marL="0">
              <a:lnSpc>
                <a:spcPts val="1900"/>
              </a:lnSpc>
              <a:buNone/>
            </a:pPr>
            <a:r>
              <a:rPr lang="en-US" altLang="en-US" sz="1350" dirty="0">
                <a:solidFill>
                  <a:srgbClr val="0E1310"/>
                </a:solidFill>
                <a:latin typeface="Nunito Sans" pitchFamily="34" charset="0"/>
                <a:ea typeface="Nunito Sans" pitchFamily="34" charset="-122"/>
                <a:cs typeface="Nunito Sans" pitchFamily="34" charset="-120"/>
              </a:rPr>
              <a:t>Parcels found, heirs abroad located, owners consolidated into one lease</a:t>
            </a:r>
            <a:endParaRPr lang="en-US" sz="1350" dirty="0"/>
          </a:p>
        </p:txBody>
      </p:sp>
      <p:pic>
        <p:nvPicPr>
          <p:cNvPr id="9" name="Image 2" descr="preencoded.png">    </p:cNvPr>
          <p:cNvPicPr>
            <a:picLocks noChangeAspect="1"/>
          </p:cNvPicPr>
          <p:nvPr/>
        </p:nvPicPr>
        <p:blipFill>
          <a:blip r:embed="rId3"/>
          <a:stretch>
            <a:fillRect/>
          </a:stretch>
        </p:blipFill>
        <p:spPr>
          <a:xfrm>
            <a:off x="812902" y="2807208"/>
            <a:ext cx="228600" cy="228600"/>
          </a:xfrm>
          <a:prstGeom prst="rect">
            <a:avLst/>
          </a:prstGeom>
        </p:spPr>
      </p:pic>
      <p:sp>
        <p:nvSpPr>
          <p:cNvPr id="10" name="Text 4"/>
          <p:cNvSpPr txBox="1"/>
          <p:nvPr/>
        </p:nvSpPr>
        <p:spPr>
          <a:xfrm>
            <a:off x="1178662" y="2788920"/>
            <a:ext cx="5760720" cy="292608"/>
          </a:xfrm>
          <a:prstGeom prst="rect">
            <a:avLst/>
          </a:prstGeom>
          <a:noFill/>
          <a:ln/>
        </p:spPr>
        <p:txBody>
          <a:bodyPr wrap="square" lIns="0" tIns="0" rIns="0" bIns="0" rtlCol="0" anchor="t">
            <a:normAutofit/>
          </a:bodyPr>
          <a:lstStyle/>
          <a:p>
            <a:pPr algn="l" indent="0" marL="0">
              <a:lnSpc>
                <a:spcPts val="1900"/>
              </a:lnSpc>
              <a:buNone/>
            </a:pPr>
            <a:r>
              <a:rPr lang="en-US" altLang="en-US" sz="1350" dirty="0">
                <a:solidFill>
                  <a:srgbClr val="0E1310"/>
                </a:solidFill>
                <a:latin typeface="Nunito Sans" pitchFamily="34" charset="0"/>
                <a:ea typeface="Nunito Sans" pitchFamily="34" charset="-122"/>
                <a:cs typeface="Nunito Sans" pitchFamily="34" charset="-120"/>
              </a:rPr>
              <a:t>Rural lease drafted under Ley 49/2003: 5 to 25 years, rent paid yearly</a:t>
            </a:r>
            <a:endParaRPr lang="en-US" sz="1350" dirty="0"/>
          </a:p>
        </p:txBody>
      </p:sp>
      <p:pic>
        <p:nvPicPr>
          <p:cNvPr id="11" name="Image 3" descr="preencoded.png">    </p:cNvPr>
          <p:cNvPicPr>
            <a:picLocks noChangeAspect="1"/>
          </p:cNvPicPr>
          <p:nvPr/>
        </p:nvPicPr>
        <p:blipFill>
          <a:blip r:embed="rId4"/>
          <a:stretch>
            <a:fillRect/>
          </a:stretch>
        </p:blipFill>
        <p:spPr>
          <a:xfrm>
            <a:off x="812902" y="3264408"/>
            <a:ext cx="228600" cy="228600"/>
          </a:xfrm>
          <a:prstGeom prst="rect">
            <a:avLst/>
          </a:prstGeom>
        </p:spPr>
      </p:pic>
      <p:sp>
        <p:nvSpPr>
          <p:cNvPr id="12" name="Text 5"/>
          <p:cNvSpPr txBox="1"/>
          <p:nvPr/>
        </p:nvSpPr>
        <p:spPr>
          <a:xfrm>
            <a:off x="1178662" y="3246120"/>
            <a:ext cx="5760720" cy="292608"/>
          </a:xfrm>
          <a:prstGeom prst="rect">
            <a:avLst/>
          </a:prstGeom>
          <a:noFill/>
          <a:ln/>
        </p:spPr>
        <p:txBody>
          <a:bodyPr wrap="square" lIns="0" tIns="0" rIns="0" bIns="0" rtlCol="0" anchor="t">
            <a:normAutofit/>
          </a:bodyPr>
          <a:lstStyle/>
          <a:p>
            <a:pPr algn="l" indent="0" marL="0">
              <a:lnSpc>
                <a:spcPts val="1900"/>
              </a:lnSpc>
              <a:buNone/>
            </a:pPr>
            <a:r>
              <a:rPr lang="en-US" altLang="en-US" sz="1350" dirty="0">
                <a:solidFill>
                  <a:srgbClr val="0E1310"/>
                </a:solidFill>
                <a:latin typeface="Nunito Sans" pitchFamily="34" charset="0"/>
                <a:ea typeface="Nunito Sans" pitchFamily="34" charset="-122"/>
                <a:cs typeface="Nunito Sans" pitchFamily="34" charset="-120"/>
              </a:rPr>
              <a:t>Banco de Terras, Concello and Medio Rural paperwork handled</a:t>
            </a:r>
            <a:endParaRPr lang="en-US" sz="1350" dirty="0"/>
          </a:p>
        </p:txBody>
      </p:sp>
      <p:pic>
        <p:nvPicPr>
          <p:cNvPr id="13" name="Image 4" descr="preencoded.png">    </p:cNvPr>
          <p:cNvPicPr>
            <a:picLocks noChangeAspect="1"/>
          </p:cNvPicPr>
          <p:nvPr/>
        </p:nvPicPr>
        <p:blipFill>
          <a:blip r:embed="rId5"/>
          <a:stretch>
            <a:fillRect/>
          </a:stretch>
        </p:blipFill>
        <p:spPr>
          <a:xfrm>
            <a:off x="812902" y="3721608"/>
            <a:ext cx="228600" cy="228600"/>
          </a:xfrm>
          <a:prstGeom prst="rect">
            <a:avLst/>
          </a:prstGeom>
        </p:spPr>
      </p:pic>
      <p:sp>
        <p:nvSpPr>
          <p:cNvPr id="14" name="Text 6"/>
          <p:cNvSpPr txBox="1"/>
          <p:nvPr/>
        </p:nvSpPr>
        <p:spPr>
          <a:xfrm>
            <a:off x="1178662" y="3703320"/>
            <a:ext cx="5760720" cy="292608"/>
          </a:xfrm>
          <a:prstGeom prst="rect">
            <a:avLst/>
          </a:prstGeom>
          <a:noFill/>
          <a:ln/>
        </p:spPr>
        <p:txBody>
          <a:bodyPr wrap="square" lIns="0" tIns="0" rIns="0" bIns="0" rtlCol="0" anchor="t">
            <a:normAutofit/>
          </a:bodyPr>
          <a:lstStyle/>
          <a:p>
            <a:pPr algn="l" indent="0" marL="0">
              <a:lnSpc>
                <a:spcPts val="1900"/>
              </a:lnSpc>
              <a:buNone/>
            </a:pPr>
            <a:r>
              <a:rPr lang="en-US" altLang="en-US" sz="1350" dirty="0">
                <a:solidFill>
                  <a:srgbClr val="0E1310"/>
                </a:solidFill>
                <a:latin typeface="Nunito Sans" pitchFamily="34" charset="0"/>
                <a:ea typeface="Nunito Sans" pitchFamily="34" charset="-122"/>
                <a:cs typeface="Nunito Sans" pitchFamily="34" charset="-120"/>
              </a:rPr>
              <a:t>Local crew recruited first; project teams housed in villagers' houses</a:t>
            </a:r>
            <a:endParaRPr lang="en-US" sz="1350" dirty="0"/>
          </a:p>
        </p:txBody>
      </p:sp>
      <p:pic>
        <p:nvPicPr>
          <p:cNvPr id="15" name="Image 5" descr="preencoded.png">    </p:cNvPr>
          <p:cNvPicPr>
            <a:picLocks noChangeAspect="1"/>
          </p:cNvPicPr>
          <p:nvPr/>
        </p:nvPicPr>
        <p:blipFill>
          <a:blip r:embed="rId6"/>
          <a:stretch>
            <a:fillRect/>
          </a:stretch>
        </p:blipFill>
        <p:spPr>
          <a:xfrm>
            <a:off x="812902" y="4178808"/>
            <a:ext cx="228600" cy="228600"/>
          </a:xfrm>
          <a:prstGeom prst="rect">
            <a:avLst/>
          </a:prstGeom>
        </p:spPr>
      </p:pic>
      <p:sp>
        <p:nvSpPr>
          <p:cNvPr id="16" name="Text 7"/>
          <p:cNvSpPr txBox="1"/>
          <p:nvPr/>
        </p:nvSpPr>
        <p:spPr>
          <a:xfrm>
            <a:off x="1178662" y="4160520"/>
            <a:ext cx="5760720" cy="292608"/>
          </a:xfrm>
          <a:prstGeom prst="rect">
            <a:avLst/>
          </a:prstGeom>
          <a:noFill/>
          <a:ln/>
        </p:spPr>
        <p:txBody>
          <a:bodyPr wrap="square" lIns="0" tIns="0" rIns="0" bIns="0" rtlCol="0" anchor="t">
            <a:normAutofit/>
          </a:bodyPr>
          <a:lstStyle/>
          <a:p>
            <a:pPr algn="l" indent="0" marL="0">
              <a:lnSpc>
                <a:spcPts val="1900"/>
              </a:lnSpc>
              <a:buNone/>
            </a:pPr>
            <a:r>
              <a:rPr lang="en-US" altLang="en-US" sz="1350" dirty="0">
                <a:solidFill>
                  <a:srgbClr val="0E1310"/>
                </a:solidFill>
                <a:latin typeface="Nunito Sans" pitchFamily="34" charset="0"/>
                <a:ea typeface="Nunito Sans" pitchFamily="34" charset="-122"/>
                <a:cs typeface="Nunito Sans" pitchFamily="34" charset="-120"/>
              </a:rPr>
              <a:t>An AI concierge that knows every parcel, route, supplier and price</a:t>
            </a:r>
            <a:endParaRPr lang="en-US" sz="1350" dirty="0"/>
          </a:p>
        </p:txBody>
      </p:sp>
      <p:sp>
        <p:nvSpPr>
          <p:cNvPr id="17" name="Text 8"/>
          <p:cNvSpPr txBox="1"/>
          <p:nvPr/>
        </p:nvSpPr>
        <p:spPr>
          <a:xfrm>
            <a:off x="7589520" y="2331720"/>
            <a:ext cx="374904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A PROJECT SET-UP, ONE-OFF</a:t>
            </a:r>
            <a:endParaRPr lang="en-US" sz="1250" dirty="0"/>
          </a:p>
        </p:txBody>
      </p:sp>
      <p:sp>
        <p:nvSpPr>
          <p:cNvPr id="18" name="Text 9"/>
          <p:cNvSpPr txBox="1"/>
          <p:nvPr/>
        </p:nvSpPr>
        <p:spPr>
          <a:xfrm>
            <a:off x="7589520" y="2624328"/>
            <a:ext cx="3749040" cy="566928"/>
          </a:xfrm>
          <a:prstGeom prst="rect">
            <a:avLst/>
          </a:prstGeom>
          <a:noFill/>
          <a:ln/>
        </p:spPr>
        <p:txBody>
          <a:bodyPr wrap="square" lIns="0" tIns="0" rIns="0" bIns="0" rtlCol="0" anchor="t">
            <a:normAutofit/>
          </a:bodyPr>
          <a:lstStyle/>
          <a:p>
            <a:pPr algn="l" indent="0" marL="0">
              <a:lnSpc>
                <a:spcPts val="3800"/>
              </a:lnSpc>
              <a:buNone/>
            </a:pPr>
            <a:r>
              <a:rPr lang="en-US" altLang="en-US" sz="3800" b="1" dirty="0">
                <a:solidFill>
                  <a:srgbClr val="6F8A18"/>
                </a:solidFill>
                <a:latin typeface="Domine" pitchFamily="34" charset="0"/>
                <a:ea typeface="Domine" pitchFamily="34" charset="-122"/>
                <a:cs typeface="Domine" pitchFamily="34" charset="-120"/>
              </a:rPr>
              <a:t>€1,500</a:t>
            </a:r>
            <a:endParaRPr lang="en-US" sz="3800" dirty="0"/>
          </a:p>
        </p:txBody>
      </p:sp>
      <p:sp>
        <p:nvSpPr>
          <p:cNvPr id="19" name="Text 10"/>
          <p:cNvSpPr txBox="1"/>
          <p:nvPr/>
        </p:nvSpPr>
        <p:spPr>
          <a:xfrm>
            <a:off x="7589520" y="3246120"/>
            <a:ext cx="3749040" cy="50292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59605A"/>
                </a:solidFill>
                <a:latin typeface="Nunito Sans" pitchFamily="34" charset="0"/>
                <a:ea typeface="Nunito Sans" pitchFamily="34" charset="-122"/>
                <a:cs typeface="Nunito Sans" pitchFamily="34" charset="-120"/>
              </a:rPr>
              <a:t>+ €600 a year of management, + 15% of the rent. The owner keeps 85%.</a:t>
            </a:r>
            <a:endParaRPr lang="en-US" sz="1300" dirty="0"/>
          </a:p>
        </p:txBody>
      </p:sp>
      <p:sp>
        <p:nvSpPr>
          <p:cNvPr id="20" name="Shape 11"/>
          <p:cNvSpPr/>
          <p:nvPr/>
        </p:nvSpPr>
        <p:spPr>
          <a:xfrm>
            <a:off x="7589520" y="3931920"/>
            <a:ext cx="3749040" cy="0"/>
          </a:xfrm>
          <a:prstGeom prst="line">
            <a:avLst/>
          </a:prstGeom>
          <a:noFill/>
          <a:ln w="9525">
            <a:solidFill>
              <a:srgbClr val="CDD2C2"/>
            </a:solidFill>
            <a:prstDash val="solid"/>
          </a:ln>
        </p:spPr>
      </p:sp>
      <p:sp>
        <p:nvSpPr>
          <p:cNvPr id="21" name="Text 12"/>
          <p:cNvSpPr txBox="1"/>
          <p:nvPr/>
        </p:nvSpPr>
        <p:spPr>
          <a:xfrm>
            <a:off x="7589520" y="4114800"/>
            <a:ext cx="374904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A WEEK FOR A GUEST</a:t>
            </a:r>
            <a:endParaRPr lang="en-US" sz="1250" dirty="0"/>
          </a:p>
        </p:txBody>
      </p:sp>
      <p:sp>
        <p:nvSpPr>
          <p:cNvPr id="22" name="Text 13"/>
          <p:cNvSpPr txBox="1"/>
          <p:nvPr/>
        </p:nvSpPr>
        <p:spPr>
          <a:xfrm>
            <a:off x="7589520" y="4407408"/>
            <a:ext cx="3749040" cy="566928"/>
          </a:xfrm>
          <a:prstGeom prst="rect">
            <a:avLst/>
          </a:prstGeom>
          <a:noFill/>
          <a:ln/>
        </p:spPr>
        <p:txBody>
          <a:bodyPr wrap="square" lIns="0" tIns="0" rIns="0" bIns="0" rtlCol="0" anchor="t">
            <a:normAutofit/>
          </a:bodyPr>
          <a:lstStyle/>
          <a:p>
            <a:pPr algn="l" indent="0" marL="0">
              <a:lnSpc>
                <a:spcPts val="3800"/>
              </a:lnSpc>
              <a:buNone/>
            </a:pPr>
            <a:r>
              <a:rPr lang="en-US" altLang="en-US" sz="3800" b="1" dirty="0">
                <a:solidFill>
                  <a:srgbClr val="0E1310"/>
                </a:solidFill>
                <a:latin typeface="Domine" pitchFamily="34" charset="0"/>
                <a:ea typeface="Domine" pitchFamily="34" charset="-122"/>
                <a:cs typeface="Domine" pitchFamily="34" charset="-120"/>
              </a:rPr>
              <a:t>€220</a:t>
            </a:r>
            <a:endParaRPr lang="en-US" sz="3800" dirty="0"/>
          </a:p>
        </p:txBody>
      </p:sp>
      <p:sp>
        <p:nvSpPr>
          <p:cNvPr id="23" name="Text 14"/>
          <p:cNvSpPr txBox="1"/>
          <p:nvPr/>
        </p:nvSpPr>
        <p:spPr>
          <a:xfrm>
            <a:off x="7589520" y="5029200"/>
            <a:ext cx="3749040" cy="68580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59605A"/>
                </a:solidFill>
                <a:latin typeface="Nunito Sans" pitchFamily="34" charset="0"/>
                <a:ea typeface="Nunito Sans" pitchFamily="34" charset="-122"/>
                <a:cs typeface="Nunito Sans" pitchFamily="34" charset="-120"/>
              </a:rPr>
              <a:t>Experiences and the host only. The house is ≈€110 a night, booked with the owner. €450 for a month, €900 for a season.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THE LANDSCAPE</a:t>
            </a:r>
            <a:endParaRPr lang="en-US" sz="1300" dirty="0"/>
          </a:p>
        </p:txBody>
      </p:sp>
      <p:sp>
        <p:nvSpPr>
          <p:cNvPr id="3" name="Text 1"/>
          <p:cNvSpPr txBox="1"/>
          <p:nvPr/>
        </p:nvSpPr>
        <p:spPr>
          <a:xfrm>
            <a:off x="812902" y="1171346"/>
            <a:ext cx="10566806" cy="440055"/>
          </a:xfrm>
          <a:prstGeom prst="rect">
            <a:avLst/>
          </a:prstGeom>
          <a:noFill/>
          <a:ln/>
        </p:spPr>
        <p:txBody>
          <a:bodyPr wrap="square" lIns="0" tIns="0" rIns="0" bIns="0" rtlCol="0" anchor="t">
            <a:normAutofit/>
          </a:bodyPr>
          <a:lstStyle/>
          <a:p>
            <a:pPr algn="l" indent="0" marL="0">
              <a:lnSpc>
                <a:spcPts val="3105"/>
              </a:lnSpc>
              <a:buNone/>
            </a:pPr>
            <a:r>
              <a:rPr lang="en-US" altLang="en-US" sz="2700" b="1" dirty="0">
                <a:solidFill>
                  <a:srgbClr val="E9EBE4"/>
                </a:solidFill>
                <a:latin typeface="Domine" pitchFamily="34" charset="0"/>
                <a:ea typeface="Domine" pitchFamily="34" charset="-122"/>
                <a:cs typeface="Domine" pitchFamily="34" charset="-120"/>
              </a:rPr>
              <a:t>The market is validated. The lease-signing layer is missing.</a:t>
            </a:r>
            <a:endParaRPr lang="en-US" sz="27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Scope assessed from each initiative's public information, September 2026 · marks show what each one offers, not its quality</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Text 3"/>
          <p:cNvSpPr txBox="1"/>
          <p:nvPr/>
        </p:nvSpPr>
        <p:spPr>
          <a:xfrm>
            <a:off x="812902" y="1691640"/>
            <a:ext cx="10566806" cy="274320"/>
          </a:xfrm>
          <a:prstGeom prst="rect">
            <a:avLst/>
          </a:prstGeom>
          <a:noFill/>
          <a:ln/>
        </p:spPr>
        <p:txBody>
          <a:bodyPr wrap="square" lIns="0" tIns="0" rIns="0" bIns="0" rtlCol="0" anchor="t">
            <a:normAutofit/>
          </a:bodyPr>
          <a:lstStyle/>
          <a:p>
            <a:pPr algn="l" indent="0" marL="0">
              <a:lnSpc>
                <a:spcPts val="2030"/>
              </a:lnSpc>
              <a:buNone/>
            </a:pPr>
            <a:r>
              <a:rPr lang="en-US" altLang="en-US" sz="1450" dirty="0">
                <a:solidFill>
                  <a:srgbClr val="A9B6A8"/>
                </a:solidFill>
                <a:latin typeface="Nunito Sans" pitchFamily="34" charset="0"/>
                <a:ea typeface="Nunito Sans" pitchFamily="34" charset="-122"/>
                <a:cs typeface="Nunito Sans" pitchFamily="34" charset="-120"/>
              </a:rPr>
              <a:t>Discovery platforms show rural Spain, colivings host the visit, the public land bank lists parcels. RuralRiver stays for the years in between.</a:t>
            </a:r>
            <a:endParaRPr lang="en-US" sz="1450" dirty="0"/>
          </a:p>
        </p:txBody>
      </p:sp>
      <p:sp>
        <p:nvSpPr>
          <p:cNvPr id="8" name="Shape 4"/>
          <p:cNvSpPr/>
          <p:nvPr/>
        </p:nvSpPr>
        <p:spPr>
          <a:xfrm>
            <a:off x="739750" y="4142232"/>
            <a:ext cx="7050024" cy="402336"/>
          </a:xfrm>
          <a:prstGeom prst="roundRect">
            <a:avLst>
              <a:gd name="adj" fmla="val 13636"/>
            </a:avLst>
          </a:prstGeom>
          <a:solidFill>
            <a:srgbClr val="2F5D4A"/>
          </a:solidFill>
          <a:ln w="12700">
            <a:solidFill>
              <a:srgbClr val="2F5D4A"/>
            </a:solidFill>
            <a:prstDash val="solid"/>
          </a:ln>
        </p:spPr>
      </p:sp>
      <p:sp>
        <p:nvSpPr>
          <p:cNvPr id="9" name="Text 5"/>
          <p:cNvSpPr txBox="1"/>
          <p:nvPr/>
        </p:nvSpPr>
        <p:spPr>
          <a:xfrm>
            <a:off x="262341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Rural discovery</a:t>
            </a:r>
            <a:endParaRPr lang="en-US" sz="900" dirty="0"/>
          </a:p>
        </p:txBody>
      </p:sp>
      <p:sp>
        <p:nvSpPr>
          <p:cNvPr id="10" name="Text 6"/>
          <p:cNvSpPr txBox="1"/>
          <p:nvPr/>
        </p:nvSpPr>
        <p:spPr>
          <a:xfrm>
            <a:off x="335493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Stays &amp; events</a:t>
            </a:r>
            <a:endParaRPr lang="en-US" sz="900" dirty="0"/>
          </a:p>
        </p:txBody>
      </p:sp>
      <p:sp>
        <p:nvSpPr>
          <p:cNvPr id="11" name="Text 7"/>
          <p:cNvSpPr txBox="1"/>
          <p:nvPr/>
        </p:nvSpPr>
        <p:spPr>
          <a:xfrm>
            <a:off x="408645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Multi-year land leases</a:t>
            </a:r>
            <a:endParaRPr lang="en-US" sz="900" dirty="0"/>
          </a:p>
        </p:txBody>
      </p:sp>
      <p:sp>
        <p:nvSpPr>
          <p:cNvPr id="12" name="Text 8"/>
          <p:cNvSpPr txBox="1"/>
          <p:nvPr/>
        </p:nvSpPr>
        <p:spPr>
          <a:xfrm>
            <a:off x="481797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Owner assembly</a:t>
            </a:r>
            <a:endParaRPr lang="en-US" sz="900" dirty="0"/>
          </a:p>
        </p:txBody>
      </p:sp>
      <p:sp>
        <p:nvSpPr>
          <p:cNvPr id="13" name="Text 9"/>
          <p:cNvSpPr txBox="1"/>
          <p:nvPr/>
        </p:nvSpPr>
        <p:spPr>
          <a:xfrm>
            <a:off x="554949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Local hiring</a:t>
            </a:r>
            <a:endParaRPr lang="en-US" sz="900" dirty="0"/>
          </a:p>
        </p:txBody>
      </p:sp>
      <p:sp>
        <p:nvSpPr>
          <p:cNvPr id="14" name="Text 10"/>
          <p:cNvSpPr txBox="1"/>
          <p:nvPr/>
        </p:nvSpPr>
        <p:spPr>
          <a:xfrm>
            <a:off x="628101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Revenue after arrival</a:t>
            </a:r>
            <a:endParaRPr lang="en-US" sz="900" dirty="0"/>
          </a:p>
        </p:txBody>
      </p:sp>
      <p:sp>
        <p:nvSpPr>
          <p:cNvPr id="15" name="Text 11"/>
          <p:cNvSpPr txBox="1"/>
          <p:nvPr/>
        </p:nvSpPr>
        <p:spPr>
          <a:xfrm>
            <a:off x="7012534" y="2240280"/>
            <a:ext cx="676656" cy="457200"/>
          </a:xfrm>
          <a:prstGeom prst="rect">
            <a:avLst/>
          </a:prstGeom>
          <a:noFill/>
          <a:ln/>
        </p:spPr>
        <p:txBody>
          <a:bodyPr wrap="square" lIns="0" tIns="0" rIns="0" bIns="0" rtlCol="0" anchor="b">
            <a:normAutofit/>
          </a:bodyPr>
          <a:lstStyle/>
          <a:p>
            <a:pPr algn="ctr" indent="0" marL="0">
              <a:lnSpc>
                <a:spcPts val="1200"/>
              </a:lnSpc>
              <a:buNone/>
            </a:pPr>
            <a:r>
              <a:rPr lang="en-US" altLang="en-US" sz="900" b="1" dirty="0">
                <a:solidFill>
                  <a:srgbClr val="A9B6A8"/>
                </a:solidFill>
                <a:latin typeface="Nunito Sans" pitchFamily="34" charset="0"/>
                <a:ea typeface="Nunito Sans" pitchFamily="34" charset="-122"/>
                <a:cs typeface="Nunito Sans" pitchFamily="34" charset="-120"/>
              </a:rPr>
              <a:t>AI concierge</a:t>
            </a:r>
            <a:endParaRPr lang="en-US" sz="900" dirty="0"/>
          </a:p>
        </p:txBody>
      </p:sp>
      <p:sp>
        <p:nvSpPr>
          <p:cNvPr id="16" name="Shape 12"/>
          <p:cNvSpPr/>
          <p:nvPr/>
        </p:nvSpPr>
        <p:spPr>
          <a:xfrm>
            <a:off x="812902" y="2697480"/>
            <a:ext cx="6903720" cy="0"/>
          </a:xfrm>
          <a:prstGeom prst="line">
            <a:avLst/>
          </a:prstGeom>
          <a:noFill/>
          <a:ln w="9525">
            <a:solidFill>
              <a:srgbClr val="2F5D4A"/>
            </a:solidFill>
            <a:prstDash val="solid"/>
          </a:ln>
        </p:spPr>
      </p:sp>
      <p:sp>
        <p:nvSpPr>
          <p:cNvPr id="17" name="Shape 13"/>
          <p:cNvSpPr/>
          <p:nvPr/>
        </p:nvSpPr>
        <p:spPr>
          <a:xfrm>
            <a:off x="812902" y="3063240"/>
            <a:ext cx="6903720" cy="0"/>
          </a:xfrm>
          <a:prstGeom prst="line">
            <a:avLst/>
          </a:prstGeom>
          <a:noFill/>
          <a:ln w="9525">
            <a:solidFill>
              <a:srgbClr val="2F5D4A"/>
            </a:solidFill>
            <a:prstDash val="solid"/>
          </a:ln>
        </p:spPr>
      </p:sp>
      <p:sp>
        <p:nvSpPr>
          <p:cNvPr id="18" name="Shape 14"/>
          <p:cNvSpPr/>
          <p:nvPr/>
        </p:nvSpPr>
        <p:spPr>
          <a:xfrm>
            <a:off x="812902" y="3429000"/>
            <a:ext cx="6903720" cy="0"/>
          </a:xfrm>
          <a:prstGeom prst="line">
            <a:avLst/>
          </a:prstGeom>
          <a:noFill/>
          <a:ln w="9525">
            <a:solidFill>
              <a:srgbClr val="2F5D4A"/>
            </a:solidFill>
            <a:prstDash val="solid"/>
          </a:ln>
        </p:spPr>
      </p:sp>
      <p:sp>
        <p:nvSpPr>
          <p:cNvPr id="19" name="Shape 15"/>
          <p:cNvSpPr/>
          <p:nvPr/>
        </p:nvSpPr>
        <p:spPr>
          <a:xfrm>
            <a:off x="812902" y="3794760"/>
            <a:ext cx="6903720" cy="0"/>
          </a:xfrm>
          <a:prstGeom prst="line">
            <a:avLst/>
          </a:prstGeom>
          <a:noFill/>
          <a:ln w="9525">
            <a:solidFill>
              <a:srgbClr val="2F5D4A"/>
            </a:solidFill>
            <a:prstDash val="solid"/>
          </a:ln>
        </p:spPr>
      </p:sp>
      <p:sp>
        <p:nvSpPr>
          <p:cNvPr id="20" name="Text 16"/>
          <p:cNvSpPr txBox="1"/>
          <p:nvPr/>
        </p:nvSpPr>
        <p:spPr>
          <a:xfrm>
            <a:off x="812902" y="2770632"/>
            <a:ext cx="1645920" cy="219456"/>
          </a:xfrm>
          <a:prstGeom prst="rect">
            <a:avLst/>
          </a:prstGeom>
          <a:noFill/>
          <a:ln/>
        </p:spPr>
        <p:txBody>
          <a:bodyPr wrap="square" lIns="0" tIns="0" rIns="0" bIns="0" rtlCol="0" anchor="t">
            <a:normAutofit/>
          </a:bodyPr>
          <a:lstStyle/>
          <a:p>
            <a:pPr algn="l" indent="0" marL="0">
              <a:lnSpc>
                <a:spcPts val="1550"/>
              </a:lnSpc>
              <a:buNone/>
            </a:pPr>
            <a:r>
              <a:rPr lang="en-US" altLang="en-US" sz="1150" dirty="0">
                <a:solidFill>
                  <a:srgbClr val="E9EBE4"/>
                </a:solidFill>
                <a:latin typeface="Nunito Sans" pitchFamily="34" charset="0"/>
                <a:ea typeface="Nunito Sans" pitchFamily="34" charset="-122"/>
                <a:cs typeface="Nunito Sans" pitchFamily="34" charset="-120"/>
              </a:rPr>
              <a:t>Aldealista</a:t>
            </a:r>
            <a:endParaRPr lang="en-US" sz="1150" dirty="0"/>
          </a:p>
        </p:txBody>
      </p:sp>
      <p:sp>
        <p:nvSpPr>
          <p:cNvPr id="21" name="Shape 17"/>
          <p:cNvSpPr/>
          <p:nvPr/>
        </p:nvSpPr>
        <p:spPr>
          <a:xfrm>
            <a:off x="2870302" y="2788920"/>
            <a:ext cx="182880" cy="182880"/>
          </a:xfrm>
          <a:prstGeom prst="ellipse">
            <a:avLst/>
          </a:prstGeom>
          <a:solidFill>
            <a:srgbClr val="A9B6A8"/>
          </a:solidFill>
          <a:ln w="12700">
            <a:solidFill>
              <a:srgbClr val="A9B6A8"/>
            </a:solidFill>
            <a:prstDash val="solid"/>
          </a:ln>
        </p:spPr>
      </p:sp>
      <p:sp>
        <p:nvSpPr>
          <p:cNvPr id="22" name="Shape 18"/>
          <p:cNvSpPr/>
          <p:nvPr/>
        </p:nvSpPr>
        <p:spPr>
          <a:xfrm>
            <a:off x="3601822" y="2788920"/>
            <a:ext cx="182880" cy="182880"/>
          </a:xfrm>
          <a:prstGeom prst="ellipse">
            <a:avLst/>
          </a:prstGeom>
          <a:ln w="12700">
            <a:solidFill>
              <a:srgbClr val="59605A"/>
            </a:solidFill>
            <a:prstDash val="solid"/>
          </a:ln>
        </p:spPr>
      </p:sp>
      <p:sp>
        <p:nvSpPr>
          <p:cNvPr id="23" name="Shape 19"/>
          <p:cNvSpPr/>
          <p:nvPr/>
        </p:nvSpPr>
        <p:spPr>
          <a:xfrm>
            <a:off x="4333342" y="2788920"/>
            <a:ext cx="182880" cy="182880"/>
          </a:xfrm>
          <a:prstGeom prst="ellipse">
            <a:avLst/>
          </a:prstGeom>
          <a:ln w="12700">
            <a:solidFill>
              <a:srgbClr val="59605A"/>
            </a:solidFill>
            <a:prstDash val="solid"/>
          </a:ln>
        </p:spPr>
      </p:sp>
      <p:sp>
        <p:nvSpPr>
          <p:cNvPr id="24" name="Shape 20"/>
          <p:cNvSpPr/>
          <p:nvPr/>
        </p:nvSpPr>
        <p:spPr>
          <a:xfrm>
            <a:off x="5064862" y="2788920"/>
            <a:ext cx="182880" cy="182880"/>
          </a:xfrm>
          <a:prstGeom prst="ellipse">
            <a:avLst/>
          </a:prstGeom>
          <a:ln w="12700">
            <a:solidFill>
              <a:srgbClr val="59605A"/>
            </a:solidFill>
            <a:prstDash val="solid"/>
          </a:ln>
        </p:spPr>
      </p:sp>
      <p:sp>
        <p:nvSpPr>
          <p:cNvPr id="25" name="Shape 21"/>
          <p:cNvSpPr/>
          <p:nvPr/>
        </p:nvSpPr>
        <p:spPr>
          <a:xfrm>
            <a:off x="5796382" y="2788920"/>
            <a:ext cx="182880" cy="182880"/>
          </a:xfrm>
          <a:prstGeom prst="ellipse">
            <a:avLst/>
          </a:prstGeom>
          <a:ln w="12700">
            <a:solidFill>
              <a:srgbClr val="59605A"/>
            </a:solidFill>
            <a:prstDash val="solid"/>
          </a:ln>
        </p:spPr>
      </p:sp>
      <p:sp>
        <p:nvSpPr>
          <p:cNvPr id="26" name="Shape 22"/>
          <p:cNvSpPr/>
          <p:nvPr/>
        </p:nvSpPr>
        <p:spPr>
          <a:xfrm>
            <a:off x="6527902" y="2788920"/>
            <a:ext cx="182880" cy="182880"/>
          </a:xfrm>
          <a:prstGeom prst="ellipse">
            <a:avLst/>
          </a:prstGeom>
          <a:ln w="12700">
            <a:solidFill>
              <a:srgbClr val="59605A"/>
            </a:solidFill>
            <a:prstDash val="solid"/>
          </a:ln>
        </p:spPr>
      </p:sp>
      <p:sp>
        <p:nvSpPr>
          <p:cNvPr id="27" name="Shape 23"/>
          <p:cNvSpPr/>
          <p:nvPr/>
        </p:nvSpPr>
        <p:spPr>
          <a:xfrm>
            <a:off x="7259422" y="2788920"/>
            <a:ext cx="182880" cy="182880"/>
          </a:xfrm>
          <a:prstGeom prst="ellipse">
            <a:avLst/>
          </a:prstGeom>
          <a:ln w="12700">
            <a:solidFill>
              <a:srgbClr val="59605A"/>
            </a:solidFill>
            <a:prstDash val="solid"/>
          </a:ln>
        </p:spPr>
      </p:sp>
      <p:sp>
        <p:nvSpPr>
          <p:cNvPr id="28" name="Text 24"/>
          <p:cNvSpPr txBox="1"/>
          <p:nvPr/>
        </p:nvSpPr>
        <p:spPr>
          <a:xfrm>
            <a:off x="812902" y="3136392"/>
            <a:ext cx="1645920" cy="219456"/>
          </a:xfrm>
          <a:prstGeom prst="rect">
            <a:avLst/>
          </a:prstGeom>
          <a:noFill/>
          <a:ln/>
        </p:spPr>
        <p:txBody>
          <a:bodyPr wrap="square" lIns="0" tIns="0" rIns="0" bIns="0" rtlCol="0" anchor="t">
            <a:normAutofit/>
          </a:bodyPr>
          <a:lstStyle/>
          <a:p>
            <a:pPr algn="l" indent="0" marL="0">
              <a:lnSpc>
                <a:spcPts val="1550"/>
              </a:lnSpc>
              <a:buNone/>
            </a:pPr>
            <a:r>
              <a:rPr lang="en-US" altLang="en-US" sz="1150" dirty="0">
                <a:solidFill>
                  <a:srgbClr val="E9EBE4"/>
                </a:solidFill>
                <a:latin typeface="Nunito Sans" pitchFamily="34" charset="0"/>
                <a:ea typeface="Nunito Sans" pitchFamily="34" charset="-122"/>
                <a:cs typeface="Nunito Sans" pitchFamily="34" charset="-120"/>
              </a:rPr>
              <a:t>Holapueblo</a:t>
            </a:r>
            <a:endParaRPr lang="en-US" sz="1150" dirty="0"/>
          </a:p>
        </p:txBody>
      </p:sp>
      <p:sp>
        <p:nvSpPr>
          <p:cNvPr id="29" name="Shape 25"/>
          <p:cNvSpPr/>
          <p:nvPr/>
        </p:nvSpPr>
        <p:spPr>
          <a:xfrm>
            <a:off x="2870302" y="3154680"/>
            <a:ext cx="182880" cy="182880"/>
          </a:xfrm>
          <a:prstGeom prst="ellipse">
            <a:avLst/>
          </a:prstGeom>
          <a:solidFill>
            <a:srgbClr val="A9B6A8"/>
          </a:solidFill>
          <a:ln w="12700">
            <a:solidFill>
              <a:srgbClr val="A9B6A8"/>
            </a:solidFill>
            <a:prstDash val="solid"/>
          </a:ln>
        </p:spPr>
      </p:sp>
      <p:sp>
        <p:nvSpPr>
          <p:cNvPr id="30" name="Shape 26"/>
          <p:cNvSpPr/>
          <p:nvPr/>
        </p:nvSpPr>
        <p:spPr>
          <a:xfrm>
            <a:off x="3601822" y="3154680"/>
            <a:ext cx="182880" cy="182880"/>
          </a:xfrm>
          <a:prstGeom prst="ellipse">
            <a:avLst/>
          </a:prstGeom>
          <a:ln w="12700">
            <a:solidFill>
              <a:srgbClr val="59605A"/>
            </a:solidFill>
            <a:prstDash val="solid"/>
          </a:ln>
        </p:spPr>
      </p:sp>
      <p:sp>
        <p:nvSpPr>
          <p:cNvPr id="31" name="Shape 27"/>
          <p:cNvSpPr/>
          <p:nvPr/>
        </p:nvSpPr>
        <p:spPr>
          <a:xfrm>
            <a:off x="4333342" y="3154680"/>
            <a:ext cx="182880" cy="182880"/>
          </a:xfrm>
          <a:prstGeom prst="ellipse">
            <a:avLst/>
          </a:prstGeom>
          <a:ln w="12700">
            <a:solidFill>
              <a:srgbClr val="59605A"/>
            </a:solidFill>
            <a:prstDash val="solid"/>
          </a:ln>
        </p:spPr>
      </p:sp>
      <p:sp>
        <p:nvSpPr>
          <p:cNvPr id="32" name="Shape 28"/>
          <p:cNvSpPr/>
          <p:nvPr/>
        </p:nvSpPr>
        <p:spPr>
          <a:xfrm>
            <a:off x="5064862" y="3154680"/>
            <a:ext cx="182880" cy="182880"/>
          </a:xfrm>
          <a:prstGeom prst="ellipse">
            <a:avLst/>
          </a:prstGeom>
          <a:ln w="12700">
            <a:solidFill>
              <a:srgbClr val="A9B6A8"/>
            </a:solidFill>
            <a:prstDash val="solid"/>
          </a:ln>
        </p:spPr>
      </p:sp>
      <p:sp>
        <p:nvSpPr>
          <p:cNvPr id="33" name="Shape 29"/>
          <p:cNvSpPr/>
          <p:nvPr/>
        </p:nvSpPr>
        <p:spPr>
          <a:xfrm>
            <a:off x="5064862" y="3154680"/>
            <a:ext cx="182880" cy="182880"/>
          </a:xfrm>
          <a:prstGeom prst="pie">
            <a:avLst>
              <a:gd name="adj1" fmla="val 16200000"/>
              <a:gd name="adj2" fmla="val 5400000"/>
            </a:avLst>
          </a:prstGeom>
          <a:solidFill>
            <a:srgbClr val="A9B6A8"/>
          </a:solidFill>
          <a:ln w="12700">
            <a:solidFill>
              <a:srgbClr val="A9B6A8"/>
            </a:solidFill>
            <a:prstDash val="solid"/>
          </a:ln>
        </p:spPr>
      </p:sp>
      <p:sp>
        <p:nvSpPr>
          <p:cNvPr id="34" name="Shape 30"/>
          <p:cNvSpPr/>
          <p:nvPr/>
        </p:nvSpPr>
        <p:spPr>
          <a:xfrm>
            <a:off x="5796382" y="3154680"/>
            <a:ext cx="182880" cy="182880"/>
          </a:xfrm>
          <a:prstGeom prst="ellipse">
            <a:avLst/>
          </a:prstGeom>
          <a:ln w="12700">
            <a:solidFill>
              <a:srgbClr val="59605A"/>
            </a:solidFill>
            <a:prstDash val="solid"/>
          </a:ln>
        </p:spPr>
      </p:sp>
      <p:sp>
        <p:nvSpPr>
          <p:cNvPr id="35" name="Shape 31"/>
          <p:cNvSpPr/>
          <p:nvPr/>
        </p:nvSpPr>
        <p:spPr>
          <a:xfrm>
            <a:off x="6527902" y="3154680"/>
            <a:ext cx="182880" cy="182880"/>
          </a:xfrm>
          <a:prstGeom prst="ellipse">
            <a:avLst/>
          </a:prstGeom>
          <a:ln w="12700">
            <a:solidFill>
              <a:srgbClr val="59605A"/>
            </a:solidFill>
            <a:prstDash val="solid"/>
          </a:ln>
        </p:spPr>
      </p:sp>
      <p:sp>
        <p:nvSpPr>
          <p:cNvPr id="36" name="Shape 32"/>
          <p:cNvSpPr/>
          <p:nvPr/>
        </p:nvSpPr>
        <p:spPr>
          <a:xfrm>
            <a:off x="7259422" y="3154680"/>
            <a:ext cx="182880" cy="182880"/>
          </a:xfrm>
          <a:prstGeom prst="ellipse">
            <a:avLst/>
          </a:prstGeom>
          <a:ln w="12700">
            <a:solidFill>
              <a:srgbClr val="59605A"/>
            </a:solidFill>
            <a:prstDash val="solid"/>
          </a:ln>
        </p:spPr>
      </p:sp>
      <p:sp>
        <p:nvSpPr>
          <p:cNvPr id="37" name="Text 33"/>
          <p:cNvSpPr txBox="1"/>
          <p:nvPr/>
        </p:nvSpPr>
        <p:spPr>
          <a:xfrm>
            <a:off x="812902" y="3502152"/>
            <a:ext cx="1645920" cy="219456"/>
          </a:xfrm>
          <a:prstGeom prst="rect">
            <a:avLst/>
          </a:prstGeom>
          <a:noFill/>
          <a:ln/>
        </p:spPr>
        <p:txBody>
          <a:bodyPr wrap="square" lIns="0" tIns="0" rIns="0" bIns="0" rtlCol="0" anchor="t">
            <a:normAutofit/>
          </a:bodyPr>
          <a:lstStyle/>
          <a:p>
            <a:pPr algn="l" indent="0" marL="0">
              <a:lnSpc>
                <a:spcPts val="1550"/>
              </a:lnSpc>
              <a:buNone/>
            </a:pPr>
            <a:r>
              <a:rPr lang="en-US" altLang="en-US" sz="1150" dirty="0">
                <a:solidFill>
                  <a:srgbClr val="E9EBE4"/>
                </a:solidFill>
                <a:latin typeface="Nunito Sans" pitchFamily="34" charset="0"/>
                <a:ea typeface="Nunito Sans" pitchFamily="34" charset="-122"/>
                <a:cs typeface="Nunito Sans" pitchFamily="34" charset="-120"/>
              </a:rPr>
              <a:t>Rural colivings</a:t>
            </a:r>
            <a:endParaRPr lang="en-US" sz="1150" dirty="0"/>
          </a:p>
        </p:txBody>
      </p:sp>
      <p:sp>
        <p:nvSpPr>
          <p:cNvPr id="38" name="Shape 34"/>
          <p:cNvSpPr/>
          <p:nvPr/>
        </p:nvSpPr>
        <p:spPr>
          <a:xfrm>
            <a:off x="2870302" y="3520440"/>
            <a:ext cx="182880" cy="182880"/>
          </a:xfrm>
          <a:prstGeom prst="ellipse">
            <a:avLst/>
          </a:prstGeom>
          <a:ln w="12700">
            <a:solidFill>
              <a:srgbClr val="A9B6A8"/>
            </a:solidFill>
            <a:prstDash val="solid"/>
          </a:ln>
        </p:spPr>
      </p:sp>
      <p:sp>
        <p:nvSpPr>
          <p:cNvPr id="39" name="Shape 35"/>
          <p:cNvSpPr/>
          <p:nvPr/>
        </p:nvSpPr>
        <p:spPr>
          <a:xfrm>
            <a:off x="2870302" y="3520440"/>
            <a:ext cx="182880" cy="182880"/>
          </a:xfrm>
          <a:prstGeom prst="pie">
            <a:avLst>
              <a:gd name="adj1" fmla="val 16200000"/>
              <a:gd name="adj2" fmla="val 5400000"/>
            </a:avLst>
          </a:prstGeom>
          <a:solidFill>
            <a:srgbClr val="A9B6A8"/>
          </a:solidFill>
          <a:ln w="12700">
            <a:solidFill>
              <a:srgbClr val="A9B6A8"/>
            </a:solidFill>
            <a:prstDash val="solid"/>
          </a:ln>
        </p:spPr>
      </p:sp>
      <p:sp>
        <p:nvSpPr>
          <p:cNvPr id="40" name="Shape 36"/>
          <p:cNvSpPr/>
          <p:nvPr/>
        </p:nvSpPr>
        <p:spPr>
          <a:xfrm>
            <a:off x="3601822" y="3520440"/>
            <a:ext cx="182880" cy="182880"/>
          </a:xfrm>
          <a:prstGeom prst="ellipse">
            <a:avLst/>
          </a:prstGeom>
          <a:solidFill>
            <a:srgbClr val="A9B6A8"/>
          </a:solidFill>
          <a:ln w="12700">
            <a:solidFill>
              <a:srgbClr val="A9B6A8"/>
            </a:solidFill>
            <a:prstDash val="solid"/>
          </a:ln>
        </p:spPr>
      </p:sp>
      <p:sp>
        <p:nvSpPr>
          <p:cNvPr id="41" name="Shape 37"/>
          <p:cNvSpPr/>
          <p:nvPr/>
        </p:nvSpPr>
        <p:spPr>
          <a:xfrm>
            <a:off x="4333342" y="3520440"/>
            <a:ext cx="182880" cy="182880"/>
          </a:xfrm>
          <a:prstGeom prst="ellipse">
            <a:avLst/>
          </a:prstGeom>
          <a:ln w="12700">
            <a:solidFill>
              <a:srgbClr val="59605A"/>
            </a:solidFill>
            <a:prstDash val="solid"/>
          </a:ln>
        </p:spPr>
      </p:sp>
      <p:sp>
        <p:nvSpPr>
          <p:cNvPr id="42" name="Shape 38"/>
          <p:cNvSpPr/>
          <p:nvPr/>
        </p:nvSpPr>
        <p:spPr>
          <a:xfrm>
            <a:off x="5064862" y="3520440"/>
            <a:ext cx="182880" cy="182880"/>
          </a:xfrm>
          <a:prstGeom prst="ellipse">
            <a:avLst/>
          </a:prstGeom>
          <a:ln w="12700">
            <a:solidFill>
              <a:srgbClr val="59605A"/>
            </a:solidFill>
            <a:prstDash val="solid"/>
          </a:ln>
        </p:spPr>
      </p:sp>
      <p:sp>
        <p:nvSpPr>
          <p:cNvPr id="43" name="Shape 39"/>
          <p:cNvSpPr/>
          <p:nvPr/>
        </p:nvSpPr>
        <p:spPr>
          <a:xfrm>
            <a:off x="5796382" y="3520440"/>
            <a:ext cx="182880" cy="182880"/>
          </a:xfrm>
          <a:prstGeom prst="ellipse">
            <a:avLst/>
          </a:prstGeom>
          <a:ln w="12700">
            <a:solidFill>
              <a:srgbClr val="A9B6A8"/>
            </a:solidFill>
            <a:prstDash val="solid"/>
          </a:ln>
        </p:spPr>
      </p:sp>
      <p:sp>
        <p:nvSpPr>
          <p:cNvPr id="44" name="Shape 40"/>
          <p:cNvSpPr/>
          <p:nvPr/>
        </p:nvSpPr>
        <p:spPr>
          <a:xfrm>
            <a:off x="5796382" y="3520440"/>
            <a:ext cx="182880" cy="182880"/>
          </a:xfrm>
          <a:prstGeom prst="pie">
            <a:avLst>
              <a:gd name="adj1" fmla="val 16200000"/>
              <a:gd name="adj2" fmla="val 5400000"/>
            </a:avLst>
          </a:prstGeom>
          <a:solidFill>
            <a:srgbClr val="A9B6A8"/>
          </a:solidFill>
          <a:ln w="12700">
            <a:solidFill>
              <a:srgbClr val="A9B6A8"/>
            </a:solidFill>
            <a:prstDash val="solid"/>
          </a:ln>
        </p:spPr>
      </p:sp>
      <p:sp>
        <p:nvSpPr>
          <p:cNvPr id="45" name="Shape 41"/>
          <p:cNvSpPr/>
          <p:nvPr/>
        </p:nvSpPr>
        <p:spPr>
          <a:xfrm>
            <a:off x="6527902" y="3520440"/>
            <a:ext cx="182880" cy="182880"/>
          </a:xfrm>
          <a:prstGeom prst="ellipse">
            <a:avLst/>
          </a:prstGeom>
          <a:ln w="12700">
            <a:solidFill>
              <a:srgbClr val="A9B6A8"/>
            </a:solidFill>
            <a:prstDash val="solid"/>
          </a:ln>
        </p:spPr>
      </p:sp>
      <p:sp>
        <p:nvSpPr>
          <p:cNvPr id="46" name="Shape 42"/>
          <p:cNvSpPr/>
          <p:nvPr/>
        </p:nvSpPr>
        <p:spPr>
          <a:xfrm>
            <a:off x="6527902" y="3520440"/>
            <a:ext cx="182880" cy="182880"/>
          </a:xfrm>
          <a:prstGeom prst="pie">
            <a:avLst>
              <a:gd name="adj1" fmla="val 16200000"/>
              <a:gd name="adj2" fmla="val 5400000"/>
            </a:avLst>
          </a:prstGeom>
          <a:solidFill>
            <a:srgbClr val="A9B6A8"/>
          </a:solidFill>
          <a:ln w="12700">
            <a:solidFill>
              <a:srgbClr val="A9B6A8"/>
            </a:solidFill>
            <a:prstDash val="solid"/>
          </a:ln>
        </p:spPr>
      </p:sp>
      <p:sp>
        <p:nvSpPr>
          <p:cNvPr id="47" name="Shape 43"/>
          <p:cNvSpPr/>
          <p:nvPr/>
        </p:nvSpPr>
        <p:spPr>
          <a:xfrm>
            <a:off x="7259422" y="3520440"/>
            <a:ext cx="182880" cy="182880"/>
          </a:xfrm>
          <a:prstGeom prst="ellipse">
            <a:avLst/>
          </a:prstGeom>
          <a:ln w="12700">
            <a:solidFill>
              <a:srgbClr val="59605A"/>
            </a:solidFill>
            <a:prstDash val="solid"/>
          </a:ln>
        </p:spPr>
      </p:sp>
      <p:sp>
        <p:nvSpPr>
          <p:cNvPr id="48" name="Text 44"/>
          <p:cNvSpPr txBox="1"/>
          <p:nvPr/>
        </p:nvSpPr>
        <p:spPr>
          <a:xfrm>
            <a:off x="812902" y="3867912"/>
            <a:ext cx="1645920" cy="219456"/>
          </a:xfrm>
          <a:prstGeom prst="rect">
            <a:avLst/>
          </a:prstGeom>
          <a:noFill/>
          <a:ln/>
        </p:spPr>
        <p:txBody>
          <a:bodyPr wrap="square" lIns="0" tIns="0" rIns="0" bIns="0" rtlCol="0" anchor="t">
            <a:normAutofit/>
          </a:bodyPr>
          <a:lstStyle/>
          <a:p>
            <a:pPr algn="l" indent="0" marL="0">
              <a:lnSpc>
                <a:spcPts val="1550"/>
              </a:lnSpc>
              <a:buNone/>
            </a:pPr>
            <a:r>
              <a:rPr lang="en-US" altLang="en-US" sz="1150" dirty="0">
                <a:solidFill>
                  <a:srgbClr val="E9EBE4"/>
                </a:solidFill>
                <a:latin typeface="Nunito Sans" pitchFamily="34" charset="0"/>
                <a:ea typeface="Nunito Sans" pitchFamily="34" charset="-122"/>
                <a:cs typeface="Nunito Sans" pitchFamily="34" charset="-120"/>
              </a:rPr>
              <a:t>Banco de Terras (Xunta)</a:t>
            </a:r>
            <a:endParaRPr lang="en-US" sz="1150" dirty="0"/>
          </a:p>
        </p:txBody>
      </p:sp>
      <p:sp>
        <p:nvSpPr>
          <p:cNvPr id="49" name="Shape 45"/>
          <p:cNvSpPr/>
          <p:nvPr/>
        </p:nvSpPr>
        <p:spPr>
          <a:xfrm>
            <a:off x="2870302" y="3886200"/>
            <a:ext cx="182880" cy="182880"/>
          </a:xfrm>
          <a:prstGeom prst="ellipse">
            <a:avLst/>
          </a:prstGeom>
          <a:ln w="12700">
            <a:solidFill>
              <a:srgbClr val="A9B6A8"/>
            </a:solidFill>
            <a:prstDash val="solid"/>
          </a:ln>
        </p:spPr>
      </p:sp>
      <p:sp>
        <p:nvSpPr>
          <p:cNvPr id="50" name="Shape 46"/>
          <p:cNvSpPr/>
          <p:nvPr/>
        </p:nvSpPr>
        <p:spPr>
          <a:xfrm>
            <a:off x="2870302" y="3886200"/>
            <a:ext cx="182880" cy="182880"/>
          </a:xfrm>
          <a:prstGeom prst="pie">
            <a:avLst>
              <a:gd name="adj1" fmla="val 16200000"/>
              <a:gd name="adj2" fmla="val 5400000"/>
            </a:avLst>
          </a:prstGeom>
          <a:solidFill>
            <a:srgbClr val="A9B6A8"/>
          </a:solidFill>
          <a:ln w="12700">
            <a:solidFill>
              <a:srgbClr val="A9B6A8"/>
            </a:solidFill>
            <a:prstDash val="solid"/>
          </a:ln>
        </p:spPr>
      </p:sp>
      <p:sp>
        <p:nvSpPr>
          <p:cNvPr id="51" name="Shape 47"/>
          <p:cNvSpPr/>
          <p:nvPr/>
        </p:nvSpPr>
        <p:spPr>
          <a:xfrm>
            <a:off x="3601822" y="3886200"/>
            <a:ext cx="182880" cy="182880"/>
          </a:xfrm>
          <a:prstGeom prst="ellipse">
            <a:avLst/>
          </a:prstGeom>
          <a:ln w="12700">
            <a:solidFill>
              <a:srgbClr val="59605A"/>
            </a:solidFill>
            <a:prstDash val="solid"/>
          </a:ln>
        </p:spPr>
      </p:sp>
      <p:sp>
        <p:nvSpPr>
          <p:cNvPr id="52" name="Shape 48"/>
          <p:cNvSpPr/>
          <p:nvPr/>
        </p:nvSpPr>
        <p:spPr>
          <a:xfrm>
            <a:off x="4333342" y="3886200"/>
            <a:ext cx="182880" cy="182880"/>
          </a:xfrm>
          <a:prstGeom prst="ellipse">
            <a:avLst/>
          </a:prstGeom>
          <a:solidFill>
            <a:srgbClr val="A9B6A8"/>
          </a:solidFill>
          <a:ln w="12700">
            <a:solidFill>
              <a:srgbClr val="A9B6A8"/>
            </a:solidFill>
            <a:prstDash val="solid"/>
          </a:ln>
        </p:spPr>
      </p:sp>
      <p:sp>
        <p:nvSpPr>
          <p:cNvPr id="53" name="Shape 49"/>
          <p:cNvSpPr/>
          <p:nvPr/>
        </p:nvSpPr>
        <p:spPr>
          <a:xfrm>
            <a:off x="5064862" y="3886200"/>
            <a:ext cx="182880" cy="182880"/>
          </a:xfrm>
          <a:prstGeom prst="ellipse">
            <a:avLst/>
          </a:prstGeom>
          <a:ln w="12700">
            <a:solidFill>
              <a:srgbClr val="A9B6A8"/>
            </a:solidFill>
            <a:prstDash val="solid"/>
          </a:ln>
        </p:spPr>
      </p:sp>
      <p:sp>
        <p:nvSpPr>
          <p:cNvPr id="54" name="Shape 50"/>
          <p:cNvSpPr/>
          <p:nvPr/>
        </p:nvSpPr>
        <p:spPr>
          <a:xfrm>
            <a:off x="5064862" y="3886200"/>
            <a:ext cx="182880" cy="182880"/>
          </a:xfrm>
          <a:prstGeom prst="pie">
            <a:avLst>
              <a:gd name="adj1" fmla="val 16200000"/>
              <a:gd name="adj2" fmla="val 5400000"/>
            </a:avLst>
          </a:prstGeom>
          <a:solidFill>
            <a:srgbClr val="A9B6A8"/>
          </a:solidFill>
          <a:ln w="12700">
            <a:solidFill>
              <a:srgbClr val="A9B6A8"/>
            </a:solidFill>
            <a:prstDash val="solid"/>
          </a:ln>
        </p:spPr>
      </p:sp>
      <p:sp>
        <p:nvSpPr>
          <p:cNvPr id="55" name="Shape 51"/>
          <p:cNvSpPr/>
          <p:nvPr/>
        </p:nvSpPr>
        <p:spPr>
          <a:xfrm>
            <a:off x="5796382" y="3886200"/>
            <a:ext cx="182880" cy="182880"/>
          </a:xfrm>
          <a:prstGeom prst="ellipse">
            <a:avLst/>
          </a:prstGeom>
          <a:ln w="12700">
            <a:solidFill>
              <a:srgbClr val="59605A"/>
            </a:solidFill>
            <a:prstDash val="solid"/>
          </a:ln>
        </p:spPr>
      </p:sp>
      <p:sp>
        <p:nvSpPr>
          <p:cNvPr id="56" name="Shape 52"/>
          <p:cNvSpPr/>
          <p:nvPr/>
        </p:nvSpPr>
        <p:spPr>
          <a:xfrm>
            <a:off x="6527902" y="3886200"/>
            <a:ext cx="182880" cy="182880"/>
          </a:xfrm>
          <a:prstGeom prst="ellipse">
            <a:avLst/>
          </a:prstGeom>
          <a:ln w="12700">
            <a:solidFill>
              <a:srgbClr val="59605A"/>
            </a:solidFill>
            <a:prstDash val="solid"/>
          </a:ln>
        </p:spPr>
      </p:sp>
      <p:sp>
        <p:nvSpPr>
          <p:cNvPr id="57" name="Shape 53"/>
          <p:cNvSpPr/>
          <p:nvPr/>
        </p:nvSpPr>
        <p:spPr>
          <a:xfrm>
            <a:off x="7259422" y="3886200"/>
            <a:ext cx="182880" cy="182880"/>
          </a:xfrm>
          <a:prstGeom prst="ellipse">
            <a:avLst/>
          </a:prstGeom>
          <a:ln w="12700">
            <a:solidFill>
              <a:srgbClr val="59605A"/>
            </a:solidFill>
            <a:prstDash val="solid"/>
          </a:ln>
        </p:spPr>
      </p:sp>
      <p:sp>
        <p:nvSpPr>
          <p:cNvPr id="58" name="Text 54"/>
          <p:cNvSpPr txBox="1"/>
          <p:nvPr/>
        </p:nvSpPr>
        <p:spPr>
          <a:xfrm>
            <a:off x="922630" y="4233672"/>
            <a:ext cx="1645920" cy="219456"/>
          </a:xfrm>
          <a:prstGeom prst="rect">
            <a:avLst/>
          </a:prstGeom>
          <a:noFill/>
          <a:ln/>
        </p:spPr>
        <p:txBody>
          <a:bodyPr wrap="square" lIns="0" tIns="0" rIns="0" bIns="0" rtlCol="0" anchor="t">
            <a:normAutofit/>
          </a:bodyPr>
          <a:lstStyle/>
          <a:p>
            <a:pPr algn="l" indent="0" marL="0">
              <a:lnSpc>
                <a:spcPts val="1550"/>
              </a:lnSpc>
              <a:buNone/>
            </a:pPr>
            <a:r>
              <a:rPr lang="en-US" altLang="en-US" sz="1150" b="1" dirty="0">
                <a:solidFill>
                  <a:srgbClr val="E9EBE4"/>
                </a:solidFill>
                <a:latin typeface="Nunito Sans" pitchFamily="34" charset="0"/>
                <a:ea typeface="Nunito Sans" pitchFamily="34" charset="-122"/>
                <a:cs typeface="Nunito Sans" pitchFamily="34" charset="-120"/>
              </a:rPr>
              <a:t>RuralRiver</a:t>
            </a:r>
            <a:endParaRPr lang="en-US" sz="1150" dirty="0"/>
          </a:p>
        </p:txBody>
      </p:sp>
      <p:sp>
        <p:nvSpPr>
          <p:cNvPr id="59" name="Shape 55"/>
          <p:cNvSpPr/>
          <p:nvPr/>
        </p:nvSpPr>
        <p:spPr>
          <a:xfrm>
            <a:off x="2870302" y="4251960"/>
            <a:ext cx="182880" cy="182880"/>
          </a:xfrm>
          <a:prstGeom prst="ellipse">
            <a:avLst/>
          </a:prstGeom>
          <a:solidFill>
            <a:srgbClr val="A7C049"/>
          </a:solidFill>
          <a:ln w="12700">
            <a:solidFill>
              <a:srgbClr val="A7C049"/>
            </a:solidFill>
            <a:prstDash val="solid"/>
          </a:ln>
        </p:spPr>
      </p:sp>
      <p:sp>
        <p:nvSpPr>
          <p:cNvPr id="60" name="Shape 56"/>
          <p:cNvSpPr/>
          <p:nvPr/>
        </p:nvSpPr>
        <p:spPr>
          <a:xfrm>
            <a:off x="3601822" y="4251960"/>
            <a:ext cx="182880" cy="182880"/>
          </a:xfrm>
          <a:prstGeom prst="ellipse">
            <a:avLst/>
          </a:prstGeom>
          <a:solidFill>
            <a:srgbClr val="A7C049"/>
          </a:solidFill>
          <a:ln w="12700">
            <a:solidFill>
              <a:srgbClr val="A7C049"/>
            </a:solidFill>
            <a:prstDash val="solid"/>
          </a:ln>
        </p:spPr>
      </p:sp>
      <p:sp>
        <p:nvSpPr>
          <p:cNvPr id="61" name="Shape 57"/>
          <p:cNvSpPr/>
          <p:nvPr/>
        </p:nvSpPr>
        <p:spPr>
          <a:xfrm>
            <a:off x="4333342" y="4251960"/>
            <a:ext cx="182880" cy="182880"/>
          </a:xfrm>
          <a:prstGeom prst="ellipse">
            <a:avLst/>
          </a:prstGeom>
          <a:solidFill>
            <a:srgbClr val="A7C049"/>
          </a:solidFill>
          <a:ln w="12700">
            <a:solidFill>
              <a:srgbClr val="A7C049"/>
            </a:solidFill>
            <a:prstDash val="solid"/>
          </a:ln>
        </p:spPr>
      </p:sp>
      <p:sp>
        <p:nvSpPr>
          <p:cNvPr id="62" name="Shape 58"/>
          <p:cNvSpPr/>
          <p:nvPr/>
        </p:nvSpPr>
        <p:spPr>
          <a:xfrm>
            <a:off x="5064862" y="4251960"/>
            <a:ext cx="182880" cy="182880"/>
          </a:xfrm>
          <a:prstGeom prst="ellipse">
            <a:avLst/>
          </a:prstGeom>
          <a:solidFill>
            <a:srgbClr val="A7C049"/>
          </a:solidFill>
          <a:ln w="12700">
            <a:solidFill>
              <a:srgbClr val="A7C049"/>
            </a:solidFill>
            <a:prstDash val="solid"/>
          </a:ln>
        </p:spPr>
      </p:sp>
      <p:sp>
        <p:nvSpPr>
          <p:cNvPr id="63" name="Shape 59"/>
          <p:cNvSpPr/>
          <p:nvPr/>
        </p:nvSpPr>
        <p:spPr>
          <a:xfrm>
            <a:off x="5796382" y="4251960"/>
            <a:ext cx="182880" cy="182880"/>
          </a:xfrm>
          <a:prstGeom prst="ellipse">
            <a:avLst/>
          </a:prstGeom>
          <a:solidFill>
            <a:srgbClr val="A7C049"/>
          </a:solidFill>
          <a:ln w="12700">
            <a:solidFill>
              <a:srgbClr val="A7C049"/>
            </a:solidFill>
            <a:prstDash val="solid"/>
          </a:ln>
        </p:spPr>
      </p:sp>
      <p:sp>
        <p:nvSpPr>
          <p:cNvPr id="64" name="Shape 60"/>
          <p:cNvSpPr/>
          <p:nvPr/>
        </p:nvSpPr>
        <p:spPr>
          <a:xfrm>
            <a:off x="6527902" y="4251960"/>
            <a:ext cx="182880" cy="182880"/>
          </a:xfrm>
          <a:prstGeom prst="ellipse">
            <a:avLst/>
          </a:prstGeom>
          <a:solidFill>
            <a:srgbClr val="A7C049"/>
          </a:solidFill>
          <a:ln w="12700">
            <a:solidFill>
              <a:srgbClr val="A7C049"/>
            </a:solidFill>
            <a:prstDash val="solid"/>
          </a:ln>
        </p:spPr>
      </p:sp>
      <p:sp>
        <p:nvSpPr>
          <p:cNvPr id="65" name="Shape 61"/>
          <p:cNvSpPr/>
          <p:nvPr/>
        </p:nvSpPr>
        <p:spPr>
          <a:xfrm>
            <a:off x="7259422" y="4251960"/>
            <a:ext cx="182880" cy="182880"/>
          </a:xfrm>
          <a:prstGeom prst="ellipse">
            <a:avLst/>
          </a:prstGeom>
          <a:solidFill>
            <a:srgbClr val="A7C049"/>
          </a:solidFill>
          <a:ln w="12700">
            <a:solidFill>
              <a:srgbClr val="A7C049"/>
            </a:solidFill>
            <a:prstDash val="solid"/>
          </a:ln>
        </p:spPr>
      </p:sp>
      <p:sp>
        <p:nvSpPr>
          <p:cNvPr id="66" name="Shape 62"/>
          <p:cNvSpPr/>
          <p:nvPr/>
        </p:nvSpPr>
        <p:spPr>
          <a:xfrm>
            <a:off x="785470" y="4663440"/>
            <a:ext cx="182880" cy="182880"/>
          </a:xfrm>
          <a:prstGeom prst="ellipse">
            <a:avLst/>
          </a:prstGeom>
          <a:solidFill>
            <a:srgbClr val="A9B6A8"/>
          </a:solidFill>
          <a:ln w="12700">
            <a:solidFill>
              <a:srgbClr val="A9B6A8"/>
            </a:solidFill>
            <a:prstDash val="solid"/>
          </a:ln>
        </p:spPr>
      </p:sp>
      <p:sp>
        <p:nvSpPr>
          <p:cNvPr id="67" name="Text 63"/>
          <p:cNvSpPr txBox="1"/>
          <p:nvPr/>
        </p:nvSpPr>
        <p:spPr>
          <a:xfrm>
            <a:off x="1014070" y="4663440"/>
            <a:ext cx="640080" cy="182880"/>
          </a:xfrm>
          <a:prstGeom prst="rect">
            <a:avLst/>
          </a:prstGeom>
          <a:noFill/>
          <a:ln/>
        </p:spPr>
        <p:txBody>
          <a:bodyPr wrap="square" lIns="0" tIns="0" rIns="0" bIns="0" rtlCol="0" anchor="t">
            <a:normAutofit/>
          </a:bodyPr>
          <a:lstStyle/>
          <a:p>
            <a:pPr algn="l" indent="0" marL="0">
              <a:lnSpc>
                <a:spcPts val="1400"/>
              </a:lnSpc>
              <a:buNone/>
            </a:pPr>
            <a:r>
              <a:rPr lang="en-US" altLang="en-US" sz="1050" dirty="0">
                <a:solidFill>
                  <a:srgbClr val="8B9A8A"/>
                </a:solidFill>
                <a:latin typeface="Nunito Sans" pitchFamily="34" charset="0"/>
                <a:ea typeface="Nunito Sans" pitchFamily="34" charset="-122"/>
                <a:cs typeface="Nunito Sans" pitchFamily="34" charset="-120"/>
              </a:rPr>
              <a:t>Yes</a:t>
            </a:r>
            <a:endParaRPr lang="en-US" sz="1050" dirty="0"/>
          </a:p>
        </p:txBody>
      </p:sp>
      <p:sp>
        <p:nvSpPr>
          <p:cNvPr id="68" name="Shape 64"/>
          <p:cNvSpPr/>
          <p:nvPr/>
        </p:nvSpPr>
        <p:spPr>
          <a:xfrm>
            <a:off x="1654150" y="4663440"/>
            <a:ext cx="182880" cy="182880"/>
          </a:xfrm>
          <a:prstGeom prst="ellipse">
            <a:avLst/>
          </a:prstGeom>
          <a:ln w="12700">
            <a:solidFill>
              <a:srgbClr val="A9B6A8"/>
            </a:solidFill>
            <a:prstDash val="solid"/>
          </a:ln>
        </p:spPr>
      </p:sp>
      <p:sp>
        <p:nvSpPr>
          <p:cNvPr id="69" name="Shape 65"/>
          <p:cNvSpPr/>
          <p:nvPr/>
        </p:nvSpPr>
        <p:spPr>
          <a:xfrm>
            <a:off x="1654150" y="4663440"/>
            <a:ext cx="182880" cy="182880"/>
          </a:xfrm>
          <a:prstGeom prst="pie">
            <a:avLst>
              <a:gd name="adj1" fmla="val 16200000"/>
              <a:gd name="adj2" fmla="val 5400000"/>
            </a:avLst>
          </a:prstGeom>
          <a:solidFill>
            <a:srgbClr val="A9B6A8"/>
          </a:solidFill>
          <a:ln w="12700">
            <a:solidFill>
              <a:srgbClr val="A9B6A8"/>
            </a:solidFill>
            <a:prstDash val="solid"/>
          </a:ln>
        </p:spPr>
      </p:sp>
      <p:sp>
        <p:nvSpPr>
          <p:cNvPr id="70" name="Text 66"/>
          <p:cNvSpPr txBox="1"/>
          <p:nvPr/>
        </p:nvSpPr>
        <p:spPr>
          <a:xfrm>
            <a:off x="1882750" y="4663440"/>
            <a:ext cx="640080" cy="182880"/>
          </a:xfrm>
          <a:prstGeom prst="rect">
            <a:avLst/>
          </a:prstGeom>
          <a:noFill/>
          <a:ln/>
        </p:spPr>
        <p:txBody>
          <a:bodyPr wrap="square" lIns="0" tIns="0" rIns="0" bIns="0" rtlCol="0" anchor="t">
            <a:normAutofit/>
          </a:bodyPr>
          <a:lstStyle/>
          <a:p>
            <a:pPr algn="l" indent="0" marL="0">
              <a:lnSpc>
                <a:spcPts val="1400"/>
              </a:lnSpc>
              <a:buNone/>
            </a:pPr>
            <a:r>
              <a:rPr lang="en-US" altLang="en-US" sz="1050" dirty="0">
                <a:solidFill>
                  <a:srgbClr val="8B9A8A"/>
                </a:solidFill>
                <a:latin typeface="Nunito Sans" pitchFamily="34" charset="0"/>
                <a:ea typeface="Nunito Sans" pitchFamily="34" charset="-122"/>
                <a:cs typeface="Nunito Sans" pitchFamily="34" charset="-120"/>
              </a:rPr>
              <a:t>Partial</a:t>
            </a:r>
            <a:endParaRPr lang="en-US" sz="1050" dirty="0"/>
          </a:p>
        </p:txBody>
      </p:sp>
      <p:sp>
        <p:nvSpPr>
          <p:cNvPr id="71" name="Shape 67"/>
          <p:cNvSpPr/>
          <p:nvPr/>
        </p:nvSpPr>
        <p:spPr>
          <a:xfrm>
            <a:off x="2522830" y="4663440"/>
            <a:ext cx="182880" cy="182880"/>
          </a:xfrm>
          <a:prstGeom prst="ellipse">
            <a:avLst/>
          </a:prstGeom>
          <a:ln w="12700">
            <a:solidFill>
              <a:srgbClr val="59605A"/>
            </a:solidFill>
            <a:prstDash val="solid"/>
          </a:ln>
        </p:spPr>
      </p:sp>
      <p:sp>
        <p:nvSpPr>
          <p:cNvPr id="72" name="Text 68"/>
          <p:cNvSpPr txBox="1"/>
          <p:nvPr/>
        </p:nvSpPr>
        <p:spPr>
          <a:xfrm>
            <a:off x="2751430" y="4663440"/>
            <a:ext cx="640080" cy="182880"/>
          </a:xfrm>
          <a:prstGeom prst="rect">
            <a:avLst/>
          </a:prstGeom>
          <a:noFill/>
          <a:ln/>
        </p:spPr>
        <p:txBody>
          <a:bodyPr wrap="square" lIns="0" tIns="0" rIns="0" bIns="0" rtlCol="0" anchor="t">
            <a:normAutofit/>
          </a:bodyPr>
          <a:lstStyle/>
          <a:p>
            <a:pPr algn="l" indent="0" marL="0">
              <a:lnSpc>
                <a:spcPts val="1400"/>
              </a:lnSpc>
              <a:buNone/>
            </a:pPr>
            <a:r>
              <a:rPr lang="en-US" altLang="en-US" sz="1050" dirty="0">
                <a:solidFill>
                  <a:srgbClr val="8B9A8A"/>
                </a:solidFill>
                <a:latin typeface="Nunito Sans" pitchFamily="34" charset="0"/>
                <a:ea typeface="Nunito Sans" pitchFamily="34" charset="-122"/>
                <a:cs typeface="Nunito Sans" pitchFamily="34" charset="-120"/>
              </a:rPr>
              <a:t>No</a:t>
            </a:r>
            <a:endParaRPr lang="en-US" sz="1050" dirty="0"/>
          </a:p>
        </p:txBody>
      </p:sp>
      <p:sp>
        <p:nvSpPr>
          <p:cNvPr id="73" name="Text 69"/>
          <p:cNvSpPr txBox="1"/>
          <p:nvPr/>
        </p:nvSpPr>
        <p:spPr>
          <a:xfrm>
            <a:off x="8046720" y="2240280"/>
            <a:ext cx="3332074" cy="640080"/>
          </a:xfrm>
          <a:prstGeom prst="rect">
            <a:avLst/>
          </a:prstGeom>
          <a:noFill/>
          <a:ln/>
        </p:spPr>
        <p:txBody>
          <a:bodyPr wrap="square" lIns="0" tIns="0" rIns="0" bIns="0" rtlCol="0" anchor="t">
            <a:normAutofit/>
          </a:bodyPr>
          <a:lstStyle/>
          <a:p>
            <a:pPr algn="l" indent="0" marL="0">
              <a:lnSpc>
                <a:spcPts val="2300"/>
              </a:lnSpc>
              <a:buNone/>
            </a:pPr>
            <a:r>
              <a:rPr lang="en-US" altLang="en-US" sz="1800" b="1" dirty="0">
                <a:solidFill>
                  <a:srgbClr val="E9EBE4"/>
                </a:solidFill>
                <a:latin typeface="Domine" pitchFamily="34" charset="0"/>
                <a:ea typeface="Domine" pitchFamily="34" charset="-122"/>
                <a:cs typeface="Domine" pitchFamily="34" charset="-120"/>
              </a:rPr>
              <a:t>Parcels get listed. Owners don't get assembled.</a:t>
            </a:r>
            <a:endParaRPr lang="en-US" sz="1800" dirty="0"/>
          </a:p>
        </p:txBody>
      </p:sp>
      <p:sp>
        <p:nvSpPr>
          <p:cNvPr id="74" name="Text 70"/>
          <p:cNvSpPr txBox="1"/>
          <p:nvPr/>
        </p:nvSpPr>
        <p:spPr>
          <a:xfrm>
            <a:off x="8046720" y="3264408"/>
            <a:ext cx="3332074"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A7C049"/>
                </a:solidFill>
                <a:latin typeface="Nunito Sans" pitchFamily="34" charset="0"/>
                <a:ea typeface="Nunito Sans" pitchFamily="34" charset="-122"/>
                <a:cs typeface="Nunito Sans" pitchFamily="34" charset="-120"/>
              </a:rPr>
              <a:t>WHY RURALRIVER IS DIFFERENT</a:t>
            </a:r>
            <a:endParaRPr lang="en-US" sz="1250" dirty="0"/>
          </a:p>
        </p:txBody>
      </p:sp>
      <p:sp>
        <p:nvSpPr>
          <p:cNvPr id="75" name="Text 71"/>
          <p:cNvSpPr txBox="1"/>
          <p:nvPr/>
        </p:nvSpPr>
        <p:spPr>
          <a:xfrm>
            <a:off x="8046720" y="3584448"/>
            <a:ext cx="3332074" cy="201168"/>
          </a:xfrm>
          <a:prstGeom prst="rect">
            <a:avLst/>
          </a:prstGeom>
          <a:noFill/>
          <a:ln/>
        </p:spPr>
        <p:txBody>
          <a:bodyPr wrap="square" lIns="0" tIns="0" rIns="0" bIns="0" rtlCol="0" anchor="t">
            <a:normAutofit/>
          </a:bodyPr>
          <a:lstStyle/>
          <a:p>
            <a:pPr algn="l" indent="0" marL="0">
              <a:lnSpc>
                <a:spcPts val="1700"/>
              </a:lnSpc>
              <a:buNone/>
            </a:pPr>
            <a:r>
              <a:rPr lang="en-US" altLang="en-US" sz="1250" b="1" dirty="0">
                <a:solidFill>
                  <a:srgbClr val="E9EBE4"/>
                </a:solidFill>
                <a:latin typeface="Nunito Sans" pitchFamily="34" charset="0"/>
                <a:ea typeface="Nunito Sans" pitchFamily="34" charset="-122"/>
                <a:cs typeface="Nunito Sans" pitchFamily="34" charset="-120"/>
              </a:rPr>
              <a:t>Operational, not informational</a:t>
            </a:r>
            <a:endParaRPr lang="en-US" sz="1250" dirty="0"/>
          </a:p>
        </p:txBody>
      </p:sp>
      <p:sp>
        <p:nvSpPr>
          <p:cNvPr id="76" name="Text 72"/>
          <p:cNvSpPr txBox="1"/>
          <p:nvPr/>
        </p:nvSpPr>
        <p:spPr>
          <a:xfrm>
            <a:off x="8046720" y="3803904"/>
            <a:ext cx="3332074" cy="365760"/>
          </a:xfrm>
          <a:prstGeom prst="rect">
            <a:avLst/>
          </a:prstGeom>
          <a:noFill/>
          <a:ln/>
        </p:spPr>
        <p:txBody>
          <a:bodyPr wrap="square" lIns="0" tIns="0" rIns="0" bIns="0" rtlCol="0" anchor="t">
            <a:normAutofit/>
          </a:bodyPr>
          <a:lstStyle/>
          <a:p>
            <a:pPr algn="l" indent="0" marL="0">
              <a:lnSpc>
                <a:spcPts val="1500"/>
              </a:lnSpc>
              <a:buNone/>
            </a:pPr>
            <a:r>
              <a:rPr lang="en-US" altLang="en-US" sz="1150" dirty="0">
                <a:solidFill>
                  <a:srgbClr val="A9B6A8"/>
                </a:solidFill>
                <a:latin typeface="Nunito Sans" pitchFamily="34" charset="0"/>
                <a:ea typeface="Nunito Sans" pitchFamily="34" charset="-122"/>
                <a:cs typeface="Nunito Sans" pitchFamily="34" charset="-120"/>
              </a:rPr>
              <a:t>We find the heirs, sign the lease, pay the owners and hire the crew.</a:t>
            </a:r>
            <a:endParaRPr lang="en-US" sz="1150" dirty="0"/>
          </a:p>
        </p:txBody>
      </p:sp>
      <p:sp>
        <p:nvSpPr>
          <p:cNvPr id="77" name="Text 73"/>
          <p:cNvSpPr txBox="1"/>
          <p:nvPr/>
        </p:nvSpPr>
        <p:spPr>
          <a:xfrm>
            <a:off x="8046720" y="4197096"/>
            <a:ext cx="3332074" cy="201168"/>
          </a:xfrm>
          <a:prstGeom prst="rect">
            <a:avLst/>
          </a:prstGeom>
          <a:noFill/>
          <a:ln/>
        </p:spPr>
        <p:txBody>
          <a:bodyPr wrap="square" lIns="0" tIns="0" rIns="0" bIns="0" rtlCol="0" anchor="t">
            <a:normAutofit/>
          </a:bodyPr>
          <a:lstStyle/>
          <a:p>
            <a:pPr algn="l" indent="0" marL="0">
              <a:lnSpc>
                <a:spcPts val="1700"/>
              </a:lnSpc>
              <a:buNone/>
            </a:pPr>
            <a:r>
              <a:rPr lang="en-US" altLang="en-US" sz="1250" b="1" dirty="0">
                <a:solidFill>
                  <a:srgbClr val="E9EBE4"/>
                </a:solidFill>
                <a:latin typeface="Nunito Sans" pitchFamily="34" charset="0"/>
                <a:ea typeface="Nunito Sans" pitchFamily="34" charset="-122"/>
                <a:cs typeface="Nunito Sans" pitchFamily="34" charset="-120"/>
              </a:rPr>
              <a:t>Years next to nights</a:t>
            </a:r>
            <a:endParaRPr lang="en-US" sz="1250" dirty="0"/>
          </a:p>
        </p:txBody>
      </p:sp>
      <p:sp>
        <p:nvSpPr>
          <p:cNvPr id="78" name="Text 74"/>
          <p:cNvSpPr txBox="1"/>
          <p:nvPr/>
        </p:nvSpPr>
        <p:spPr>
          <a:xfrm>
            <a:off x="8046720" y="4416552"/>
            <a:ext cx="3332074" cy="365760"/>
          </a:xfrm>
          <a:prstGeom prst="rect">
            <a:avLst/>
          </a:prstGeom>
          <a:noFill/>
          <a:ln/>
        </p:spPr>
        <p:txBody>
          <a:bodyPr wrap="square" lIns="0" tIns="0" rIns="0" bIns="0" rtlCol="0" anchor="t">
            <a:normAutofit/>
          </a:bodyPr>
          <a:lstStyle/>
          <a:p>
            <a:pPr algn="l" indent="0" marL="0">
              <a:lnSpc>
                <a:spcPts val="1500"/>
              </a:lnSpc>
              <a:buNone/>
            </a:pPr>
            <a:r>
              <a:rPr lang="en-US" altLang="en-US" sz="1150" dirty="0">
                <a:solidFill>
                  <a:srgbClr val="A9B6A8"/>
                </a:solidFill>
                <a:latin typeface="Nunito Sans" pitchFamily="34" charset="0"/>
                <a:ea typeface="Nunito Sans" pitchFamily="34" charset="-122"/>
                <a:cs typeface="Nunito Sans" pitchFamily="34" charset="-120"/>
              </a:rPr>
              <a:t>Week-long stays and 25-year leases from the same host: two horizons, one network.</a:t>
            </a:r>
            <a:endParaRPr lang="en-US" sz="1150" dirty="0"/>
          </a:p>
        </p:txBody>
      </p:sp>
      <p:sp>
        <p:nvSpPr>
          <p:cNvPr id="79" name="Text 75"/>
          <p:cNvSpPr txBox="1"/>
          <p:nvPr/>
        </p:nvSpPr>
        <p:spPr>
          <a:xfrm>
            <a:off x="8046720" y="4809744"/>
            <a:ext cx="3332074" cy="201168"/>
          </a:xfrm>
          <a:prstGeom prst="rect">
            <a:avLst/>
          </a:prstGeom>
          <a:noFill/>
          <a:ln/>
        </p:spPr>
        <p:txBody>
          <a:bodyPr wrap="square" lIns="0" tIns="0" rIns="0" bIns="0" rtlCol="0" anchor="t">
            <a:normAutofit/>
          </a:bodyPr>
          <a:lstStyle/>
          <a:p>
            <a:pPr algn="l" indent="0" marL="0">
              <a:lnSpc>
                <a:spcPts val="1700"/>
              </a:lnSpc>
              <a:buNone/>
            </a:pPr>
            <a:r>
              <a:rPr lang="en-US" altLang="en-US" sz="1250" b="1" dirty="0">
                <a:solidFill>
                  <a:srgbClr val="E9EBE4"/>
                </a:solidFill>
                <a:latin typeface="Nunito Sans" pitchFamily="34" charset="0"/>
                <a:ea typeface="Nunito Sans" pitchFamily="34" charset="-122"/>
                <a:cs typeface="Nunito Sans" pitchFamily="34" charset="-120"/>
              </a:rPr>
              <a:t>Revenue after arrival</a:t>
            </a:r>
            <a:endParaRPr lang="en-US" sz="1250" dirty="0"/>
          </a:p>
        </p:txBody>
      </p:sp>
      <p:sp>
        <p:nvSpPr>
          <p:cNvPr id="80" name="Text 76"/>
          <p:cNvSpPr txBox="1"/>
          <p:nvPr/>
        </p:nvSpPr>
        <p:spPr>
          <a:xfrm>
            <a:off x="8046720" y="5029200"/>
            <a:ext cx="3332074" cy="365760"/>
          </a:xfrm>
          <a:prstGeom prst="rect">
            <a:avLst/>
          </a:prstGeom>
          <a:noFill/>
          <a:ln/>
        </p:spPr>
        <p:txBody>
          <a:bodyPr wrap="square" lIns="0" tIns="0" rIns="0" bIns="0" rtlCol="0" anchor="t">
            <a:normAutofit/>
          </a:bodyPr>
          <a:lstStyle/>
          <a:p>
            <a:pPr algn="l" indent="0" marL="0">
              <a:lnSpc>
                <a:spcPts val="1500"/>
              </a:lnSpc>
              <a:buNone/>
            </a:pPr>
            <a:r>
              <a:rPr lang="en-US" altLang="en-US" sz="1150" dirty="0">
                <a:solidFill>
                  <a:srgbClr val="A9B6A8"/>
                </a:solidFill>
                <a:latin typeface="Nunito Sans" pitchFamily="34" charset="0"/>
                <a:ea typeface="Nunito Sans" pitchFamily="34" charset="-122"/>
                <a:cs typeface="Nunito Sans" pitchFamily="34" charset="-120"/>
              </a:rPr>
              <a:t>Set-up, yearly management and 15% of the rent for as long as the project stays.</a:t>
            </a:r>
            <a:endParaRPr lang="en-US" sz="1150" dirty="0"/>
          </a:p>
        </p:txBody>
      </p:sp>
      <p:sp>
        <p:nvSpPr>
          <p:cNvPr id="81" name="Text 77"/>
          <p:cNvSpPr txBox="1"/>
          <p:nvPr/>
        </p:nvSpPr>
        <p:spPr>
          <a:xfrm>
            <a:off x="812902" y="5504688"/>
            <a:ext cx="10202875" cy="512064"/>
          </a:xfrm>
          <a:prstGeom prst="rect">
            <a:avLst/>
          </a:prstGeom>
          <a:noFill/>
          <a:ln/>
        </p:spPr>
        <p:txBody>
          <a:bodyPr wrap="square" lIns="0" tIns="0" rIns="0" bIns="0" rtlCol="0" anchor="t">
            <a:normAutofit/>
          </a:bodyPr>
          <a:lstStyle/>
          <a:p>
            <a:pPr algn="l" indent="0" marL="0">
              <a:lnSpc>
                <a:spcPts val="2030"/>
              </a:lnSpc>
              <a:buNone/>
            </a:pPr>
            <a:r>
              <a:rPr lang="en-US" altLang="en-US" sz="1450" dirty="0">
                <a:solidFill>
                  <a:srgbClr val="E9EBE4"/>
                </a:solidFill>
                <a:latin typeface="Nunito Sans" pitchFamily="34" charset="0"/>
                <a:ea typeface="Nunito Sans" pitchFamily="34" charset="-122"/>
                <a:cs typeface="Nunito Sans" pitchFamily="34" charset="-120"/>
              </a:rPr>
              <a:t>Aldealista shows the village. Colivings host the visit. The Banco de Terras lists the parcel. RuralRiver signs the lease and hires the village.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WORKING PROTOTYPE</a:t>
            </a:r>
            <a:endParaRPr lang="en-US" sz="1300" dirty="0"/>
          </a:p>
        </p:txBody>
      </p:sp>
      <p:sp>
        <p:nvSpPr>
          <p:cNvPr id="3" name="Text 1"/>
          <p:cNvSpPr txBox="1"/>
          <p:nvPr/>
        </p:nvSpPr>
        <p:spPr>
          <a:xfrm>
            <a:off x="812902" y="1171346"/>
            <a:ext cx="10566806" cy="454660"/>
          </a:xfrm>
          <a:prstGeom prst="rect">
            <a:avLst/>
          </a:prstGeom>
          <a:noFill/>
          <a:ln/>
        </p:spPr>
        <p:txBody>
          <a:bodyPr wrap="square" lIns="0" tIns="0" rIns="0" bIns="0" rtlCol="0" anchor="t">
            <a:normAutofit/>
          </a:bodyPr>
          <a:lstStyle/>
          <a:p>
            <a:pPr algn="l" indent="0" marL="0">
              <a:lnSpc>
                <a:spcPts val="3220"/>
              </a:lnSpc>
              <a:buNone/>
            </a:pPr>
            <a:r>
              <a:rPr lang="en-US" altLang="en-US" sz="2800" b="1" dirty="0">
                <a:solidFill>
                  <a:srgbClr val="0E1310"/>
                </a:solidFill>
                <a:latin typeface="Domine" pitchFamily="34" charset="0"/>
                <a:ea typeface="Domine" pitchFamily="34" charset="-122"/>
                <a:cs typeface="Domine" pitchFamily="34" charset="-120"/>
              </a:rPr>
              <a:t>The site runs, the map runs. The parcels are examples.</a:t>
            </a:r>
            <a:endParaRPr lang="en-US" sz="28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Built in-house by the team · runs on a laptop without internet except map tiles · figures on every slide are read from /api/model</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Land map of San Xoán de Río with example parcels">    </p:cNvPr>
          <p:cNvPicPr>
            <a:picLocks noChangeAspect="1"/>
          </p:cNvPicPr>
          <p:nvPr/>
        </p:nvPicPr>
        <p:blipFill>
          <a:blip r:embed="rId2"/>
          <a:stretch>
            <a:fillRect/>
          </a:stretch>
        </p:blipFill>
        <p:spPr>
          <a:xfrm>
            <a:off x="812902" y="2103120"/>
            <a:ext cx="3449814" cy="2926080"/>
          </a:xfrm>
          <a:prstGeom prst="rect">
            <a:avLst/>
          </a:prstGeom>
        </p:spPr>
      </p:pic>
      <p:sp>
        <p:nvSpPr>
          <p:cNvPr id="8" name="Shape 3"/>
          <p:cNvSpPr/>
          <p:nvPr/>
        </p:nvSpPr>
        <p:spPr>
          <a:xfrm>
            <a:off x="809244" y="2099462"/>
            <a:ext cx="3457129" cy="2933395"/>
          </a:xfrm>
          <a:prstGeom prst="rect">
            <a:avLst/>
          </a:prstGeom>
          <a:ln w="6350">
            <a:solidFill>
              <a:srgbClr val="CDD2C2"/>
            </a:solidFill>
            <a:prstDash val="solid"/>
          </a:ln>
        </p:spPr>
      </p:sp>
      <p:pic>
        <p:nvPicPr>
          <p:cNvPr id="9" name="Image 2" descr="RuralRiver home page">    </p:cNvPr>
          <p:cNvPicPr>
            <a:picLocks noChangeAspect="1"/>
          </p:cNvPicPr>
          <p:nvPr/>
        </p:nvPicPr>
        <p:blipFill>
          <a:blip r:embed="rId3"/>
          <a:srcRect l="0" r="0" t="0" b="0"/>
          <a:stretch/>
        </p:blipFill>
        <p:spPr>
          <a:xfrm>
            <a:off x="4537036" y="2103120"/>
            <a:ext cx="6841758" cy="2926080"/>
          </a:xfrm>
          <a:prstGeom prst="rect">
            <a:avLst/>
          </a:prstGeom>
        </p:spPr>
      </p:pic>
      <p:sp>
        <p:nvSpPr>
          <p:cNvPr id="10" name="Shape 4"/>
          <p:cNvSpPr/>
          <p:nvPr/>
        </p:nvSpPr>
        <p:spPr>
          <a:xfrm>
            <a:off x="4533378" y="2099462"/>
            <a:ext cx="6849073" cy="2933395"/>
          </a:xfrm>
          <a:prstGeom prst="rect">
            <a:avLst/>
          </a:prstGeom>
          <a:ln w="6350">
            <a:solidFill>
              <a:srgbClr val="CDD2C2"/>
            </a:solidFill>
            <a:prstDash val="solid"/>
          </a:ln>
        </p:spPr>
      </p:sp>
      <p:sp>
        <p:nvSpPr>
          <p:cNvPr id="11" name="Text 5"/>
          <p:cNvSpPr txBox="1"/>
          <p:nvPr/>
        </p:nvSpPr>
        <p:spPr>
          <a:xfrm>
            <a:off x="4537036" y="5193792"/>
            <a:ext cx="6841758" cy="201168"/>
          </a:xfrm>
          <a:prstGeom prst="rect">
            <a:avLst/>
          </a:prstGeom>
          <a:noFill/>
          <a:ln/>
        </p:spPr>
        <p:txBody>
          <a:bodyPr wrap="square" lIns="0" tIns="0" rIns="0" bIns="0" rtlCol="0" anchor="t">
            <a:normAutofit/>
          </a:bodyPr>
          <a:lstStyle/>
          <a:p>
            <a:pPr algn="l" indent="0" marL="0">
              <a:lnSpc>
                <a:spcPts val="1600"/>
              </a:lnSpc>
              <a:buNone/>
            </a:pPr>
            <a:r>
              <a:rPr lang="en-US" altLang="en-US" sz="1150" b="1" spc="100" kern="0" dirty="0">
                <a:solidFill>
                  <a:srgbClr val="6F8A18"/>
                </a:solidFill>
                <a:latin typeface="Nunito Sans" pitchFamily="34" charset="0"/>
                <a:ea typeface="Nunito Sans" pitchFamily="34" charset="-122"/>
                <a:cs typeface="Nunito Sans" pitchFamily="34" charset="-120"/>
              </a:rPr>
              <a:t>RUNNING TODAY</a:t>
            </a:r>
            <a:endParaRPr lang="en-US" sz="1150" dirty="0"/>
          </a:p>
        </p:txBody>
      </p:sp>
      <p:sp>
        <p:nvSpPr>
          <p:cNvPr id="12" name="Text 6"/>
          <p:cNvSpPr txBox="1"/>
          <p:nvPr/>
        </p:nvSpPr>
        <p:spPr>
          <a:xfrm>
            <a:off x="4537036" y="5413248"/>
            <a:ext cx="6841758" cy="548640"/>
          </a:xfrm>
          <a:prstGeom prst="rect">
            <a:avLst/>
          </a:prstGeom>
          <a:noFill/>
          <a:ln/>
        </p:spPr>
        <p:txBody>
          <a:bodyPr wrap="square" lIns="0" tIns="0" rIns="0" bIns="0" rtlCol="0" anchor="t">
            <a:normAutofit/>
          </a:bodyPr>
          <a:lstStyle/>
          <a:p>
            <a:pPr algn="l" indent="0" marL="0">
              <a:lnSpc>
                <a:spcPts val="1650"/>
              </a:lnSpc>
              <a:buNone/>
            </a:pPr>
            <a:r>
              <a:rPr lang="en-US" altLang="en-US" sz="1200" dirty="0">
                <a:solidFill>
                  <a:srgbClr val="59605A"/>
                </a:solidFill>
                <a:latin typeface="Nunito Sans" pitchFamily="34" charset="0"/>
                <a:ea typeface="Nunito Sans" pitchFamily="34" charset="-122"/>
                <a:cs typeface="Nunito Sans" pitchFamily="34" charset="-120"/>
              </a:rPr>
              <a:t>Bilingual site, guided planner, event builder, land map with 10 example parcels and a lease builder, AI concierge (offline mode), live business model.</a:t>
            </a:r>
            <a:endParaRPr lang="en-US" sz="1200" dirty="0"/>
          </a:p>
        </p:txBody>
      </p:sp>
      <p:sp>
        <p:nvSpPr>
          <p:cNvPr id="13" name="Text 7"/>
          <p:cNvSpPr txBox="1"/>
          <p:nvPr/>
        </p:nvSpPr>
        <p:spPr>
          <a:xfrm>
            <a:off x="812902" y="5193792"/>
            <a:ext cx="3449814" cy="201168"/>
          </a:xfrm>
          <a:prstGeom prst="rect">
            <a:avLst/>
          </a:prstGeom>
          <a:noFill/>
          <a:ln/>
        </p:spPr>
        <p:txBody>
          <a:bodyPr wrap="square" lIns="0" tIns="0" rIns="0" bIns="0" rtlCol="0" anchor="t">
            <a:normAutofit/>
          </a:bodyPr>
          <a:lstStyle/>
          <a:p>
            <a:pPr algn="l" indent="0" marL="0">
              <a:lnSpc>
                <a:spcPts val="1600"/>
              </a:lnSpc>
              <a:buNone/>
            </a:pPr>
            <a:r>
              <a:rPr lang="en-US" altLang="en-US" sz="1150" b="1" spc="100" kern="0" dirty="0">
                <a:solidFill>
                  <a:srgbClr val="878E84"/>
                </a:solidFill>
                <a:latin typeface="Nunito Sans" pitchFamily="34" charset="0"/>
                <a:ea typeface="Nunito Sans" pitchFamily="34" charset="-122"/>
                <a:cs typeface="Nunito Sans" pitchFamily="34" charset="-120"/>
              </a:rPr>
              <a:t>NOT BUILT YET</a:t>
            </a:r>
            <a:endParaRPr lang="en-US" sz="1150" dirty="0"/>
          </a:p>
        </p:txBody>
      </p:sp>
      <p:sp>
        <p:nvSpPr>
          <p:cNvPr id="14" name="Text 8"/>
          <p:cNvSpPr txBox="1"/>
          <p:nvPr/>
        </p:nvSpPr>
        <p:spPr>
          <a:xfrm>
            <a:off x="812902" y="5413248"/>
            <a:ext cx="3449814" cy="274320"/>
          </a:xfrm>
          <a:prstGeom prst="rect">
            <a:avLst/>
          </a:prstGeom>
          <a:noFill/>
          <a:ln/>
        </p:spPr>
        <p:txBody>
          <a:bodyPr wrap="square" lIns="0" tIns="0" rIns="0" bIns="0" rtlCol="0" anchor="t">
            <a:normAutofit/>
          </a:bodyPr>
          <a:lstStyle/>
          <a:p>
            <a:pPr algn="l" indent="0" marL="0">
              <a:lnSpc>
                <a:spcPts val="1650"/>
              </a:lnSpc>
              <a:buNone/>
            </a:pPr>
            <a:r>
              <a:rPr lang="en-US" altLang="en-US" sz="1200" dirty="0">
                <a:solidFill>
                  <a:srgbClr val="59605A"/>
                </a:solidFill>
                <a:latin typeface="Nunito Sans" pitchFamily="34" charset="0"/>
                <a:ea typeface="Nunito Sans" pitchFamily="34" charset="-122"/>
                <a:cs typeface="Nunito Sans" pitchFamily="34" charset="-120"/>
              </a:rPr>
              <a:t>Payments, owner accounts, signed listings.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THE MODEL</a:t>
            </a:r>
            <a:endParaRPr lang="en-US" sz="1300" dirty="0"/>
          </a:p>
        </p:txBody>
      </p:sp>
      <p:sp>
        <p:nvSpPr>
          <p:cNvPr id="3" name="Text 1"/>
          <p:cNvSpPr txBox="1"/>
          <p:nvPr/>
        </p:nvSpPr>
        <p:spPr>
          <a:xfrm>
            <a:off x="812902" y="1171346"/>
            <a:ext cx="10566806" cy="571500"/>
          </a:xfrm>
          <a:prstGeom prst="rect">
            <a:avLst/>
          </a:prstGeom>
          <a:noFill/>
          <a:ln/>
        </p:spPr>
        <p:txBody>
          <a:bodyPr wrap="square" lIns="0" tIns="0" rIns="0" bIns="0" rtlCol="0" anchor="t">
            <a:normAutofit/>
          </a:bodyPr>
          <a:lstStyle/>
          <a:p>
            <a:pPr algn="l" indent="0" marL="0">
              <a:lnSpc>
                <a:spcPts val="4140"/>
              </a:lnSpc>
              <a:buNone/>
            </a:pPr>
            <a:r>
              <a:rPr lang="en-US" altLang="en-US" sz="3600" b="1" dirty="0">
                <a:solidFill>
                  <a:srgbClr val="0E1310"/>
                </a:solidFill>
                <a:latin typeface="Domine" pitchFamily="34" charset="0"/>
                <a:ea typeface="Domine" pitchFamily="34" charset="-122"/>
                <a:cs typeface="Domine" pitchFamily="34" charset="-120"/>
              </a:rPr>
              <a:t>Three payers. A villager earns on every one.</a:t>
            </a:r>
            <a:endParaRPr lang="en-US" sz="3600" dirty="0"/>
          </a:p>
        </p:txBody>
      </p:sp>
      <p:sp>
        <p:nvSpPr>
          <p:cNvPr id="4" name="Text 2"/>
          <p:cNvSpPr txBox="1"/>
          <p:nvPr/>
        </p:nvSpPr>
        <p:spPr>
          <a:xfrm>
            <a:off x="812902" y="6238037"/>
            <a:ext cx="1014984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Margins after direct costs, from the live model · owners keep 80–85% of every rent · no council contract in the model</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606040"/>
            <a:ext cx="3410712" cy="2331720"/>
          </a:xfrm>
          <a:prstGeom prst="roundRect">
            <a:avLst>
              <a:gd name="adj" fmla="val 4902"/>
            </a:avLst>
          </a:prstGeom>
          <a:solidFill>
            <a:srgbClr val="DCE0D3"/>
          </a:solidFill>
          <a:ln w="12700">
            <a:solidFill>
              <a:srgbClr val="DCE0D3"/>
            </a:solidFill>
            <a:prstDash val="solid"/>
          </a:ln>
        </p:spPr>
      </p:sp>
      <p:pic>
        <p:nvPicPr>
          <p:cNvPr id="8" name="Image 1" descr="preencoded.png">    </p:cNvPr>
          <p:cNvPicPr>
            <a:picLocks noChangeAspect="1"/>
          </p:cNvPicPr>
          <p:nvPr/>
        </p:nvPicPr>
        <p:blipFill>
          <a:blip r:embed="rId2"/>
          <a:stretch>
            <a:fillRect/>
          </a:stretch>
        </p:blipFill>
        <p:spPr>
          <a:xfrm>
            <a:off x="1014070" y="2834640"/>
            <a:ext cx="317297" cy="317297"/>
          </a:xfrm>
          <a:prstGeom prst="rect">
            <a:avLst/>
          </a:prstGeom>
        </p:spPr>
      </p:pic>
      <p:sp>
        <p:nvSpPr>
          <p:cNvPr id="9" name="Text 4"/>
          <p:cNvSpPr txBox="1"/>
          <p:nvPr/>
        </p:nvSpPr>
        <p:spPr>
          <a:xfrm>
            <a:off x="1014070" y="3255264"/>
            <a:ext cx="3008376" cy="384048"/>
          </a:xfrm>
          <a:prstGeom prst="rect">
            <a:avLst/>
          </a:prstGeom>
          <a:noFill/>
          <a:ln/>
        </p:spPr>
        <p:txBody>
          <a:bodyPr wrap="square" lIns="0" tIns="0" rIns="0" bIns="0" rtlCol="0" anchor="t">
            <a:normAutofit/>
          </a:bodyPr>
          <a:lstStyle/>
          <a:p>
            <a:pPr algn="l" indent="0" marL="0">
              <a:lnSpc>
                <a:spcPts val="2800"/>
              </a:lnSpc>
              <a:buNone/>
            </a:pPr>
            <a:r>
              <a:rPr lang="en-US" altLang="en-US" sz="2000" b="1" dirty="0">
                <a:solidFill>
                  <a:srgbClr val="0E1310"/>
                </a:solidFill>
                <a:latin typeface="Domine" pitchFamily="34" charset="0"/>
                <a:ea typeface="Domine" pitchFamily="34" charset="-122"/>
                <a:cs typeface="Domine" pitchFamily="34" charset="-120"/>
              </a:rPr>
              <a:t>Guests</a:t>
            </a:r>
            <a:endParaRPr lang="en-US" sz="2000" dirty="0"/>
          </a:p>
        </p:txBody>
      </p:sp>
      <p:sp>
        <p:nvSpPr>
          <p:cNvPr id="10" name="Text 5"/>
          <p:cNvSpPr txBox="1"/>
          <p:nvPr/>
        </p:nvSpPr>
        <p:spPr>
          <a:xfrm>
            <a:off x="1014070" y="3703320"/>
            <a:ext cx="3008376" cy="73152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59605A"/>
                </a:solidFill>
                <a:latin typeface="Nunito Sans" pitchFamily="34" charset="0"/>
                <a:ea typeface="Nunito Sans" pitchFamily="34" charset="-122"/>
                <a:cs typeface="Nunito Sans" pitchFamily="34" charset="-120"/>
              </a:rPr>
              <a:t>€220–€900 packages, ≈€110 house nights, 15% on villagers' houses</a:t>
            </a:r>
            <a:endParaRPr lang="en-US" sz="1350" dirty="0"/>
          </a:p>
        </p:txBody>
      </p:sp>
      <p:sp>
        <p:nvSpPr>
          <p:cNvPr id="11" name="Text 6"/>
          <p:cNvSpPr txBox="1"/>
          <p:nvPr/>
        </p:nvSpPr>
        <p:spPr>
          <a:xfrm>
            <a:off x="1014070" y="4526280"/>
            <a:ext cx="3008376"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€66,200 · 70% MARGIN</a:t>
            </a:r>
            <a:endParaRPr lang="en-US" sz="1250" dirty="0"/>
          </a:p>
        </p:txBody>
      </p:sp>
      <p:sp>
        <p:nvSpPr>
          <p:cNvPr id="12" name="Shape 7"/>
          <p:cNvSpPr/>
          <p:nvPr/>
        </p:nvSpPr>
        <p:spPr>
          <a:xfrm>
            <a:off x="4397350" y="2606040"/>
            <a:ext cx="3410712" cy="2331720"/>
          </a:xfrm>
          <a:prstGeom prst="roundRect">
            <a:avLst>
              <a:gd name="adj" fmla="val 4902"/>
            </a:avLst>
          </a:prstGeom>
          <a:solidFill>
            <a:srgbClr val="DCE0D3"/>
          </a:solidFill>
          <a:ln w="12700">
            <a:solidFill>
              <a:srgbClr val="DCE0D3"/>
            </a:solidFill>
            <a:prstDash val="solid"/>
          </a:ln>
        </p:spPr>
      </p:sp>
      <p:pic>
        <p:nvPicPr>
          <p:cNvPr id="13" name="Image 2" descr="preencoded.png">    </p:cNvPr>
          <p:cNvPicPr>
            <a:picLocks noChangeAspect="1"/>
          </p:cNvPicPr>
          <p:nvPr/>
        </p:nvPicPr>
        <p:blipFill>
          <a:blip r:embed="rId3"/>
          <a:stretch>
            <a:fillRect/>
          </a:stretch>
        </p:blipFill>
        <p:spPr>
          <a:xfrm>
            <a:off x="4598518" y="2834640"/>
            <a:ext cx="317297" cy="317297"/>
          </a:xfrm>
          <a:prstGeom prst="rect">
            <a:avLst/>
          </a:prstGeom>
        </p:spPr>
      </p:pic>
      <p:sp>
        <p:nvSpPr>
          <p:cNvPr id="14" name="Text 8"/>
          <p:cNvSpPr txBox="1"/>
          <p:nvPr/>
        </p:nvSpPr>
        <p:spPr>
          <a:xfrm>
            <a:off x="4598518" y="3255264"/>
            <a:ext cx="3008376" cy="384048"/>
          </a:xfrm>
          <a:prstGeom prst="rect">
            <a:avLst/>
          </a:prstGeom>
          <a:noFill/>
          <a:ln/>
        </p:spPr>
        <p:txBody>
          <a:bodyPr wrap="square" lIns="0" tIns="0" rIns="0" bIns="0" rtlCol="0" anchor="t">
            <a:normAutofit/>
          </a:bodyPr>
          <a:lstStyle/>
          <a:p>
            <a:pPr algn="l" indent="0" marL="0">
              <a:lnSpc>
                <a:spcPts val="2800"/>
              </a:lnSpc>
              <a:buNone/>
            </a:pPr>
            <a:r>
              <a:rPr lang="en-US" altLang="en-US" sz="2000" b="1" dirty="0">
                <a:solidFill>
                  <a:srgbClr val="0E1310"/>
                </a:solidFill>
                <a:latin typeface="Domine" pitchFamily="34" charset="0"/>
                <a:ea typeface="Domine" pitchFamily="34" charset="-122"/>
                <a:cs typeface="Domine" pitchFamily="34" charset="-120"/>
              </a:rPr>
              <a:t>Event clients</a:t>
            </a:r>
            <a:endParaRPr lang="en-US" sz="2000" dirty="0"/>
          </a:p>
        </p:txBody>
      </p:sp>
      <p:sp>
        <p:nvSpPr>
          <p:cNvPr id="15" name="Text 9"/>
          <p:cNvSpPr txBox="1"/>
          <p:nvPr/>
        </p:nvSpPr>
        <p:spPr>
          <a:xfrm>
            <a:off x="4598518" y="3703320"/>
            <a:ext cx="3008376" cy="73152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59605A"/>
                </a:solidFill>
                <a:latin typeface="Nunito Sans" pitchFamily="34" charset="0"/>
                <a:ea typeface="Nunito Sans" pitchFamily="34" charset="-122"/>
                <a:cs typeface="Nunito Sans" pitchFamily="34" charset="-120"/>
              </a:rPr>
              <a:t>≈€2,000 per event; the landowner keeps 80% of the venue fee</a:t>
            </a:r>
            <a:endParaRPr lang="en-US" sz="1350" dirty="0"/>
          </a:p>
        </p:txBody>
      </p:sp>
      <p:sp>
        <p:nvSpPr>
          <p:cNvPr id="16" name="Text 10"/>
          <p:cNvSpPr txBox="1"/>
          <p:nvPr/>
        </p:nvSpPr>
        <p:spPr>
          <a:xfrm>
            <a:off x="4598518" y="4526280"/>
            <a:ext cx="3008376"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€50,000 · 32% MARGIN</a:t>
            </a:r>
            <a:endParaRPr lang="en-US" sz="1250" dirty="0"/>
          </a:p>
        </p:txBody>
      </p:sp>
      <p:sp>
        <p:nvSpPr>
          <p:cNvPr id="17" name="Shape 11"/>
          <p:cNvSpPr/>
          <p:nvPr/>
        </p:nvSpPr>
        <p:spPr>
          <a:xfrm>
            <a:off x="7981798" y="2606040"/>
            <a:ext cx="3410712" cy="2331720"/>
          </a:xfrm>
          <a:prstGeom prst="roundRect">
            <a:avLst>
              <a:gd name="adj" fmla="val 4902"/>
            </a:avLst>
          </a:prstGeom>
          <a:solidFill>
            <a:srgbClr val="DCE0D3"/>
          </a:solidFill>
          <a:ln w="12700">
            <a:solidFill>
              <a:srgbClr val="DCE0D3"/>
            </a:solidFill>
            <a:prstDash val="solid"/>
          </a:ln>
        </p:spPr>
      </p:sp>
      <p:pic>
        <p:nvPicPr>
          <p:cNvPr id="18" name="Image 3" descr="preencoded.png">    </p:cNvPr>
          <p:cNvPicPr>
            <a:picLocks noChangeAspect="1"/>
          </p:cNvPicPr>
          <p:nvPr/>
        </p:nvPicPr>
        <p:blipFill>
          <a:blip r:embed="rId4"/>
          <a:stretch>
            <a:fillRect/>
          </a:stretch>
        </p:blipFill>
        <p:spPr>
          <a:xfrm>
            <a:off x="8182966" y="2834640"/>
            <a:ext cx="317297" cy="317297"/>
          </a:xfrm>
          <a:prstGeom prst="rect">
            <a:avLst/>
          </a:prstGeom>
        </p:spPr>
      </p:pic>
      <p:sp>
        <p:nvSpPr>
          <p:cNvPr id="19" name="Text 12"/>
          <p:cNvSpPr txBox="1"/>
          <p:nvPr/>
        </p:nvSpPr>
        <p:spPr>
          <a:xfrm>
            <a:off x="8182966" y="3255264"/>
            <a:ext cx="3008376" cy="384048"/>
          </a:xfrm>
          <a:prstGeom prst="rect">
            <a:avLst/>
          </a:prstGeom>
          <a:noFill/>
          <a:ln/>
        </p:spPr>
        <p:txBody>
          <a:bodyPr wrap="square" lIns="0" tIns="0" rIns="0" bIns="0" rtlCol="0" anchor="t">
            <a:normAutofit/>
          </a:bodyPr>
          <a:lstStyle/>
          <a:p>
            <a:pPr algn="l" indent="0" marL="0">
              <a:lnSpc>
                <a:spcPts val="2800"/>
              </a:lnSpc>
              <a:buNone/>
            </a:pPr>
            <a:r>
              <a:rPr lang="en-US" altLang="en-US" sz="2000" b="1" dirty="0">
                <a:solidFill>
                  <a:srgbClr val="6F8A18"/>
                </a:solidFill>
                <a:latin typeface="Domine" pitchFamily="34" charset="0"/>
                <a:ea typeface="Domine" pitchFamily="34" charset="-122"/>
                <a:cs typeface="Domine" pitchFamily="34" charset="-120"/>
              </a:rPr>
              <a:t>Project owners</a:t>
            </a:r>
            <a:endParaRPr lang="en-US" sz="2000" dirty="0"/>
          </a:p>
        </p:txBody>
      </p:sp>
      <p:sp>
        <p:nvSpPr>
          <p:cNvPr id="20" name="Text 13"/>
          <p:cNvSpPr txBox="1"/>
          <p:nvPr/>
        </p:nvSpPr>
        <p:spPr>
          <a:xfrm>
            <a:off x="8182966" y="3703320"/>
            <a:ext cx="3008376" cy="731520"/>
          </a:xfrm>
          <a:prstGeom prst="rect">
            <a:avLst/>
          </a:prstGeom>
          <a:noFill/>
          <a:ln/>
        </p:spPr>
        <p:txBody>
          <a:bodyPr wrap="square" lIns="0" tIns="0" rIns="0" bIns="0" rtlCol="0" anchor="t">
            <a:normAutofit/>
          </a:bodyPr>
          <a:lstStyle/>
          <a:p>
            <a:pPr algn="l" indent="0" marL="0">
              <a:lnSpc>
                <a:spcPts val="1950"/>
              </a:lnSpc>
              <a:buNone/>
            </a:pPr>
            <a:r>
              <a:rPr lang="en-US" altLang="en-US" sz="1350" dirty="0">
                <a:solidFill>
                  <a:srgbClr val="59605A"/>
                </a:solidFill>
                <a:latin typeface="Nunito Sans" pitchFamily="34" charset="0"/>
                <a:ea typeface="Nunito Sans" pitchFamily="34" charset="-122"/>
                <a:cs typeface="Nunito Sans" pitchFamily="34" charset="-120"/>
              </a:rPr>
              <a:t>€1,500 set-up, €600 a year, 15% of the rent; the owner keeps 85%</a:t>
            </a:r>
            <a:endParaRPr lang="en-US" sz="1350" dirty="0"/>
          </a:p>
        </p:txBody>
      </p:sp>
      <p:sp>
        <p:nvSpPr>
          <p:cNvPr id="21" name="Text 14"/>
          <p:cNvSpPr txBox="1"/>
          <p:nvPr/>
        </p:nvSpPr>
        <p:spPr>
          <a:xfrm>
            <a:off x="8182966" y="4526280"/>
            <a:ext cx="3008376"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6F8A18"/>
                </a:solidFill>
                <a:latin typeface="Nunito Sans" pitchFamily="34" charset="0"/>
                <a:ea typeface="Nunito Sans" pitchFamily="34" charset="-122"/>
                <a:cs typeface="Nunito Sans" pitchFamily="34" charset="-120"/>
              </a:rPr>
              <a:t>€23,000 · 83% MARGIN</a:t>
            </a:r>
            <a:endParaRPr lang="en-US" sz="1250" dirty="0"/>
          </a:p>
        </p:txBody>
      </p:sp>
      <p:sp>
        <p:nvSpPr>
          <p:cNvPr id="22" name="Text 15"/>
          <p:cNvSpPr txBox="1"/>
          <p:nvPr/>
        </p:nvSpPr>
        <p:spPr>
          <a:xfrm>
            <a:off x="812902" y="5349240"/>
            <a:ext cx="10202875" cy="365760"/>
          </a:xfrm>
          <a:prstGeom prst="rect">
            <a:avLst/>
          </a:prstGeom>
          <a:noFill/>
          <a:ln/>
        </p:spPr>
        <p:txBody>
          <a:bodyPr wrap="square" lIns="0" tIns="0" rIns="0" bIns="0" rtlCol="0" anchor="t">
            <a:normAutofit/>
          </a:bodyPr>
          <a:lstStyle/>
          <a:p>
            <a:pPr algn="l" indent="0" marL="0">
              <a:lnSpc>
                <a:spcPts val="2500"/>
              </a:lnSpc>
              <a:buNone/>
            </a:pPr>
            <a:r>
              <a:rPr lang="en-US" altLang="en-US" sz="1800" dirty="0">
                <a:solidFill>
                  <a:srgbClr val="0E1310"/>
                </a:solidFill>
                <a:latin typeface="Nunito Sans" pitchFamily="34" charset="0"/>
                <a:ea typeface="Nunito Sans" pitchFamily="34" charset="-122"/>
                <a:cs typeface="Nunito Sans" pitchFamily="34" charset="-120"/>
              </a:rPr>
              <a:t>The guest pays for a week. The project pays for a decade. Both pay a villager before they pay us.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YEAR ONE</a:t>
            </a:r>
            <a:endParaRPr lang="en-US" sz="1300" dirty="0"/>
          </a:p>
        </p:txBody>
      </p:sp>
      <p:sp>
        <p:nvSpPr>
          <p:cNvPr id="3" name="Text 1"/>
          <p:cNvSpPr txBox="1"/>
          <p:nvPr/>
        </p:nvSpPr>
        <p:spPr>
          <a:xfrm>
            <a:off x="812902" y="1171346"/>
            <a:ext cx="10566806" cy="527685"/>
          </a:xfrm>
          <a:prstGeom prst="rect">
            <a:avLst/>
          </a:prstGeom>
          <a:noFill/>
          <a:ln/>
        </p:spPr>
        <p:txBody>
          <a:bodyPr wrap="square" lIns="0" tIns="0" rIns="0" bIns="0" rtlCol="0" anchor="t">
            <a:normAutofit/>
          </a:bodyPr>
          <a:lstStyle/>
          <a:p>
            <a:pPr algn="l" indent="0" marL="0">
              <a:lnSpc>
                <a:spcPts val="3795"/>
              </a:lnSpc>
              <a:buNone/>
            </a:pPr>
            <a:r>
              <a:rPr lang="en-US" altLang="en-US" sz="3300" b="1" dirty="0">
                <a:solidFill>
                  <a:srgbClr val="E9EBE4"/>
                </a:solidFill>
                <a:latin typeface="Domine" pitchFamily="34" charset="0"/>
                <a:ea typeface="Domine" pitchFamily="34" charset="-122"/>
                <a:cs typeface="Domine" pitchFamily="34" charset="-120"/>
              </a:rPr>
              <a:t>One village. €139,200 revenue. Loan repaid, €58,274 profit.</a:t>
            </a:r>
            <a:endParaRPr lang="en-US" sz="3300" dirty="0"/>
          </a:p>
        </p:txBody>
      </p:sp>
      <p:sp>
        <p:nvSpPr>
          <p:cNvPr id="4" name="Text 2"/>
          <p:cNvSpPr txBox="1"/>
          <p:nvPr/>
        </p:nvSpPr>
        <p:spPr>
          <a:xfrm>
            <a:off x="812902" y="6238037"/>
            <a:ext cx="86868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Before founder pay · all volumes are our estimates · seasonality Oct 2026–Sep 2027 · sliders at /business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preencoded.png">    </p:cNvPr>
          <p:cNvPicPr>
            <a:picLocks noChangeAspect="1"/>
          </p:cNvPicPr>
          <p:nvPr/>
        </p:nvPicPr>
        <p:blipFill>
          <a:blip r:embed="rId2"/>
          <a:stretch>
            <a:fillRect/>
          </a:stretch>
        </p:blipFill>
        <p:spPr>
          <a:xfrm>
            <a:off x="812902" y="2464308"/>
            <a:ext cx="304495" cy="304495"/>
          </a:xfrm>
          <a:prstGeom prst="rect">
            <a:avLst/>
          </a:prstGeom>
        </p:spPr>
      </p:pic>
      <p:sp>
        <p:nvSpPr>
          <p:cNvPr id="8" name="Text 3"/>
          <p:cNvSpPr txBox="1"/>
          <p:nvPr/>
        </p:nvSpPr>
        <p:spPr>
          <a:xfrm>
            <a:off x="812902" y="2857500"/>
            <a:ext cx="3346704"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100" kern="0" dirty="0">
                <a:solidFill>
                  <a:srgbClr val="8B9A8A"/>
                </a:solidFill>
                <a:latin typeface="Nunito Sans" pitchFamily="34" charset="0"/>
                <a:ea typeface="Nunito Sans" pitchFamily="34" charset="-122"/>
                <a:cs typeface="Nunito Sans" pitchFamily="34" charset="-120"/>
              </a:rPr>
              <a:t>REVENUE</a:t>
            </a:r>
            <a:endParaRPr lang="en-US" sz="1300" dirty="0"/>
          </a:p>
        </p:txBody>
      </p:sp>
      <p:sp>
        <p:nvSpPr>
          <p:cNvPr id="9" name="Text 4"/>
          <p:cNvSpPr txBox="1"/>
          <p:nvPr/>
        </p:nvSpPr>
        <p:spPr>
          <a:xfrm>
            <a:off x="812902" y="3177540"/>
            <a:ext cx="3346704" cy="619760"/>
          </a:xfrm>
          <a:prstGeom prst="rect">
            <a:avLst/>
          </a:prstGeom>
          <a:noFill/>
          <a:ln/>
        </p:spPr>
        <p:txBody>
          <a:bodyPr wrap="square" lIns="0" tIns="0" rIns="0" bIns="0" rtlCol="0" anchor="t">
            <a:normAutofit/>
          </a:bodyPr>
          <a:lstStyle/>
          <a:p>
            <a:pPr algn="l" indent="0" marL="0">
              <a:lnSpc>
                <a:spcPts val="3800"/>
              </a:lnSpc>
              <a:buNone/>
            </a:pPr>
            <a:r>
              <a:rPr lang="en-US" altLang="en-US" sz="3800" b="1" dirty="0">
                <a:solidFill>
                  <a:srgbClr val="E9EBE4"/>
                </a:solidFill>
                <a:latin typeface="Domine" pitchFamily="34" charset="0"/>
                <a:ea typeface="Domine" pitchFamily="34" charset="-122"/>
                <a:cs typeface="Domine" pitchFamily="34" charset="-120"/>
              </a:rPr>
              <a:t>€139,200</a:t>
            </a:r>
            <a:endParaRPr lang="en-US" sz="3800" dirty="0"/>
          </a:p>
        </p:txBody>
      </p:sp>
      <p:pic>
        <p:nvPicPr>
          <p:cNvPr id="10" name="Image 2" descr="preencoded.png">    </p:cNvPr>
          <p:cNvPicPr>
            <a:picLocks noChangeAspect="1"/>
          </p:cNvPicPr>
          <p:nvPr/>
        </p:nvPicPr>
        <p:blipFill>
          <a:blip r:embed="rId3"/>
          <a:stretch>
            <a:fillRect/>
          </a:stretch>
        </p:blipFill>
        <p:spPr>
          <a:xfrm>
            <a:off x="4470502" y="2464308"/>
            <a:ext cx="304495" cy="304495"/>
          </a:xfrm>
          <a:prstGeom prst="rect">
            <a:avLst/>
          </a:prstGeom>
        </p:spPr>
      </p:pic>
      <p:sp>
        <p:nvSpPr>
          <p:cNvPr id="11" name="Text 5"/>
          <p:cNvSpPr txBox="1"/>
          <p:nvPr/>
        </p:nvSpPr>
        <p:spPr>
          <a:xfrm>
            <a:off x="4470502" y="2857500"/>
            <a:ext cx="3346704"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100" kern="0" dirty="0">
                <a:solidFill>
                  <a:srgbClr val="8B9A8A"/>
                </a:solidFill>
                <a:latin typeface="Nunito Sans" pitchFamily="34" charset="0"/>
                <a:ea typeface="Nunito Sans" pitchFamily="34" charset="-122"/>
                <a:cs typeface="Nunito Sans" pitchFamily="34" charset="-120"/>
              </a:rPr>
              <a:t>PROFIT AFTER ALL COSTS</a:t>
            </a:r>
            <a:endParaRPr lang="en-US" sz="1300" dirty="0"/>
          </a:p>
        </p:txBody>
      </p:sp>
      <p:sp>
        <p:nvSpPr>
          <p:cNvPr id="12" name="Text 6"/>
          <p:cNvSpPr txBox="1"/>
          <p:nvPr/>
        </p:nvSpPr>
        <p:spPr>
          <a:xfrm>
            <a:off x="4470502" y="3177540"/>
            <a:ext cx="3346704" cy="619760"/>
          </a:xfrm>
          <a:prstGeom prst="rect">
            <a:avLst/>
          </a:prstGeom>
          <a:noFill/>
          <a:ln/>
        </p:spPr>
        <p:txBody>
          <a:bodyPr wrap="square" lIns="0" tIns="0" rIns="0" bIns="0" rtlCol="0" anchor="t">
            <a:normAutofit/>
          </a:bodyPr>
          <a:lstStyle/>
          <a:p>
            <a:pPr algn="l" indent="0" marL="0">
              <a:lnSpc>
                <a:spcPts val="3800"/>
              </a:lnSpc>
              <a:buNone/>
            </a:pPr>
            <a:r>
              <a:rPr lang="en-US" altLang="en-US" sz="3800" b="1" dirty="0">
                <a:solidFill>
                  <a:srgbClr val="A7C049"/>
                </a:solidFill>
                <a:latin typeface="Domine" pitchFamily="34" charset="0"/>
                <a:ea typeface="Domine" pitchFamily="34" charset="-122"/>
                <a:cs typeface="Domine" pitchFamily="34" charset="-120"/>
              </a:rPr>
              <a:t>€58,274</a:t>
            </a:r>
            <a:endParaRPr lang="en-US" sz="3800" dirty="0"/>
          </a:p>
        </p:txBody>
      </p:sp>
      <p:pic>
        <p:nvPicPr>
          <p:cNvPr id="13" name="Image 3" descr="preencoded.png">    </p:cNvPr>
          <p:cNvPicPr>
            <a:picLocks noChangeAspect="1"/>
          </p:cNvPicPr>
          <p:nvPr/>
        </p:nvPicPr>
        <p:blipFill>
          <a:blip r:embed="rId4"/>
          <a:stretch>
            <a:fillRect/>
          </a:stretch>
        </p:blipFill>
        <p:spPr>
          <a:xfrm>
            <a:off x="8128102" y="2464308"/>
            <a:ext cx="304495" cy="304495"/>
          </a:xfrm>
          <a:prstGeom prst="rect">
            <a:avLst/>
          </a:prstGeom>
        </p:spPr>
      </p:pic>
      <p:sp>
        <p:nvSpPr>
          <p:cNvPr id="14" name="Text 7"/>
          <p:cNvSpPr txBox="1"/>
          <p:nvPr/>
        </p:nvSpPr>
        <p:spPr>
          <a:xfrm>
            <a:off x="8128102" y="2857500"/>
            <a:ext cx="3346704"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100" kern="0" dirty="0">
                <a:solidFill>
                  <a:srgbClr val="8B9A8A"/>
                </a:solidFill>
                <a:latin typeface="Nunito Sans" pitchFamily="34" charset="0"/>
                <a:ea typeface="Nunito Sans" pitchFamily="34" charset="-122"/>
                <a:cs typeface="Nunito Sans" pitchFamily="34" charset="-120"/>
              </a:rPr>
              <a:t>CASH AT MONTH 12</a:t>
            </a:r>
            <a:endParaRPr lang="en-US" sz="1300" dirty="0"/>
          </a:p>
        </p:txBody>
      </p:sp>
      <p:sp>
        <p:nvSpPr>
          <p:cNvPr id="15" name="Text 8"/>
          <p:cNvSpPr txBox="1"/>
          <p:nvPr/>
        </p:nvSpPr>
        <p:spPr>
          <a:xfrm>
            <a:off x="8128102" y="3177540"/>
            <a:ext cx="3346704" cy="619760"/>
          </a:xfrm>
          <a:prstGeom prst="rect">
            <a:avLst/>
          </a:prstGeom>
          <a:noFill/>
          <a:ln/>
        </p:spPr>
        <p:txBody>
          <a:bodyPr wrap="square" lIns="0" tIns="0" rIns="0" bIns="0" rtlCol="0" anchor="t">
            <a:normAutofit/>
          </a:bodyPr>
          <a:lstStyle/>
          <a:p>
            <a:pPr algn="l" indent="0" marL="0">
              <a:lnSpc>
                <a:spcPts val="3800"/>
              </a:lnSpc>
              <a:buNone/>
            </a:pPr>
            <a:r>
              <a:rPr lang="en-US" altLang="en-US" sz="3800" b="1" dirty="0">
                <a:solidFill>
                  <a:srgbClr val="E9EBE4"/>
                </a:solidFill>
                <a:latin typeface="Domine" pitchFamily="34" charset="0"/>
                <a:ea typeface="Domine" pitchFamily="34" charset="-122"/>
                <a:cs typeface="Domine" pitchFamily="34" charset="-120"/>
              </a:rPr>
              <a:t>€63,274</a:t>
            </a:r>
            <a:endParaRPr lang="en-US" sz="3800" dirty="0"/>
          </a:p>
        </p:txBody>
      </p:sp>
      <p:sp>
        <p:nvSpPr>
          <p:cNvPr id="16" name="Shape 9"/>
          <p:cNvSpPr/>
          <p:nvPr/>
        </p:nvSpPr>
        <p:spPr>
          <a:xfrm>
            <a:off x="812902" y="4451299"/>
            <a:ext cx="10566806" cy="0"/>
          </a:xfrm>
          <a:prstGeom prst="line">
            <a:avLst/>
          </a:prstGeom>
          <a:noFill/>
          <a:ln w="9525">
            <a:solidFill>
              <a:srgbClr val="587C6C"/>
            </a:solidFill>
            <a:prstDash val="solid"/>
          </a:ln>
        </p:spPr>
      </p:sp>
      <p:sp>
        <p:nvSpPr>
          <p:cNvPr id="17" name="Text 10"/>
          <p:cNvSpPr txBox="1"/>
          <p:nvPr/>
        </p:nvSpPr>
        <p:spPr>
          <a:xfrm>
            <a:off x="812902" y="4892040"/>
            <a:ext cx="10202875" cy="914400"/>
          </a:xfrm>
          <a:prstGeom prst="rect">
            <a:avLst/>
          </a:prstGeom>
          <a:noFill/>
          <a:ln/>
        </p:spPr>
        <p:txBody>
          <a:bodyPr wrap="square" lIns="0" tIns="0" rIns="0" bIns="0" rtlCol="0" anchor="t">
            <a:normAutofit/>
          </a:bodyPr>
          <a:lstStyle/>
          <a:p>
            <a:pPr algn="l" indent="0" marL="0">
              <a:lnSpc>
                <a:spcPts val="2320"/>
              </a:lnSpc>
              <a:buNone/>
            </a:pPr>
            <a:r>
              <a:rPr lang="en-US" altLang="en-US" sz="1600" dirty="0">
                <a:solidFill>
                  <a:srgbClr val="A9B6A8"/>
                </a:solidFill>
                <a:latin typeface="Nunito Sans" pitchFamily="34" charset="0"/>
                <a:ea typeface="Nunito Sans" pitchFamily="34" charset="-122"/>
                <a:cs typeface="Nunito Sans" pitchFamily="34" charset="-120"/>
              </a:rPr>
              <a:t>On €25,000 in: €5,000 savings and a €20,000 loan at 7%, repaid inside the year at €1,731 a month (€20,766 in total). Revenue left after the loan: €118,434. The year stays profitable down to 29% of the planned volumes.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5D4A"/>
        </a:solidFill>
      </p:bgPr>
    </p:bg>
    <p:spTree>
      <p:nvGrpSpPr>
        <p:cNvPr id="1" name=""/>
        <p:cNvGrpSpPr/>
        <p:nvPr/>
      </p:nvGrpSpPr>
      <p:grpSpPr>
        <a:xfrm>
          <a:off x="0" y="0"/>
          <a:ext cx="0" cy="0"/>
          <a:chOff x="0" y="0"/>
          <a:chExt cx="0" cy="0"/>
        </a:xfrm>
      </p:grpSpPr>
      <p:pic>
        <p:nvPicPr>
          <p:cNvPr id="2"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4" name="Text 0"/>
          <p:cNvSpPr txBox="1"/>
          <p:nvPr/>
        </p:nvSpPr>
        <p:spPr>
          <a:xfrm>
            <a:off x="812902" y="812902"/>
            <a:ext cx="3279038"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B8CC5E"/>
                </a:solidFill>
                <a:latin typeface="Nunito Sans" pitchFamily="34" charset="0"/>
                <a:ea typeface="Nunito Sans" pitchFamily="34" charset="-122"/>
                <a:cs typeface="Nunito Sans" pitchFamily="34" charset="-120"/>
              </a:rPr>
              <a:t>YEAR ONE · ONE VILLAGE</a:t>
            </a:r>
            <a:endParaRPr lang="en-US" sz="1250" dirty="0"/>
          </a:p>
        </p:txBody>
      </p:sp>
      <p:sp>
        <p:nvSpPr>
          <p:cNvPr id="5" name="Text 1"/>
          <p:cNvSpPr txBox="1"/>
          <p:nvPr/>
        </p:nvSpPr>
        <p:spPr>
          <a:xfrm>
            <a:off x="812902" y="1086307"/>
            <a:ext cx="3279038" cy="416966"/>
          </a:xfrm>
          <a:prstGeom prst="rect">
            <a:avLst/>
          </a:prstGeom>
          <a:noFill/>
          <a:ln/>
        </p:spPr>
        <p:txBody>
          <a:bodyPr wrap="square" lIns="0" tIns="0" rIns="0" bIns="0" rtlCol="0" anchor="t">
            <a:normAutofit/>
          </a:bodyPr>
          <a:lstStyle/>
          <a:p>
            <a:pPr algn="l" indent="0" marL="0">
              <a:lnSpc>
                <a:spcPts val="3080"/>
              </a:lnSpc>
              <a:buNone/>
            </a:pPr>
            <a:r>
              <a:rPr lang="en-US" altLang="en-US" sz="2200" b="1" dirty="0">
                <a:solidFill>
                  <a:srgbClr val="E9EBE4"/>
                </a:solidFill>
                <a:latin typeface="Domine" pitchFamily="34" charset="0"/>
                <a:ea typeface="Domine" pitchFamily="34" charset="-122"/>
                <a:cs typeface="Domine" pitchFamily="34" charset="-120"/>
              </a:rPr>
              <a:t>10 projects on 40 ha</a:t>
            </a:r>
            <a:endParaRPr lang="en-US" sz="2200" dirty="0"/>
          </a:p>
        </p:txBody>
      </p:sp>
      <p:sp>
        <p:nvSpPr>
          <p:cNvPr id="6" name="Text 2"/>
          <p:cNvSpPr txBox="1"/>
          <p:nvPr/>
        </p:nvSpPr>
        <p:spPr>
          <a:xfrm>
            <a:off x="4504334" y="812902"/>
            <a:ext cx="3279038"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B8CC5E"/>
                </a:solidFill>
                <a:latin typeface="Nunito Sans" pitchFamily="34" charset="0"/>
                <a:ea typeface="Nunito Sans" pitchFamily="34" charset="-122"/>
                <a:cs typeface="Nunito Sans" pitchFamily="34" charset="-120"/>
              </a:rPr>
              <a:t>OWNERS PAID EVERY YEAR</a:t>
            </a:r>
            <a:endParaRPr lang="en-US" sz="1250" dirty="0"/>
          </a:p>
        </p:txBody>
      </p:sp>
      <p:sp>
        <p:nvSpPr>
          <p:cNvPr id="7" name="Text 3"/>
          <p:cNvSpPr txBox="1"/>
          <p:nvPr/>
        </p:nvSpPr>
        <p:spPr>
          <a:xfrm>
            <a:off x="4504334" y="1086307"/>
            <a:ext cx="3279038" cy="416966"/>
          </a:xfrm>
          <a:prstGeom prst="rect">
            <a:avLst/>
          </a:prstGeom>
          <a:noFill/>
          <a:ln/>
        </p:spPr>
        <p:txBody>
          <a:bodyPr wrap="square" lIns="0" tIns="0" rIns="0" bIns="0" rtlCol="0" anchor="t">
            <a:normAutofit/>
          </a:bodyPr>
          <a:lstStyle/>
          <a:p>
            <a:pPr algn="l" indent="0" marL="0">
              <a:lnSpc>
                <a:spcPts val="3080"/>
              </a:lnSpc>
              <a:buNone/>
            </a:pPr>
            <a:r>
              <a:rPr lang="en-US" altLang="en-US" sz="2200" b="1" dirty="0">
                <a:solidFill>
                  <a:srgbClr val="E9EBE4"/>
                </a:solidFill>
                <a:latin typeface="Domine" pitchFamily="34" charset="0"/>
                <a:ea typeface="Domine" pitchFamily="34" charset="-122"/>
                <a:cs typeface="Domine" pitchFamily="34" charset="-120"/>
              </a:rPr>
              <a:t>85% of the land rent</a:t>
            </a:r>
            <a:endParaRPr lang="en-US" sz="2200" dirty="0"/>
          </a:p>
        </p:txBody>
      </p:sp>
      <p:sp>
        <p:nvSpPr>
          <p:cNvPr id="8" name="Text 4"/>
          <p:cNvSpPr txBox="1"/>
          <p:nvPr/>
        </p:nvSpPr>
        <p:spPr>
          <a:xfrm>
            <a:off x="8195767" y="812902"/>
            <a:ext cx="3279038"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B8CC5E"/>
                </a:solidFill>
                <a:latin typeface="Nunito Sans" pitchFamily="34" charset="0"/>
                <a:ea typeface="Nunito Sans" pitchFamily="34" charset="-122"/>
                <a:cs typeface="Nunito Sans" pitchFamily="34" charset="-120"/>
              </a:rPr>
              <a:t>THE LOAN</a:t>
            </a:r>
            <a:endParaRPr lang="en-US" sz="1250" dirty="0"/>
          </a:p>
        </p:txBody>
      </p:sp>
      <p:sp>
        <p:nvSpPr>
          <p:cNvPr id="9" name="Text 5"/>
          <p:cNvSpPr txBox="1"/>
          <p:nvPr/>
        </p:nvSpPr>
        <p:spPr>
          <a:xfrm>
            <a:off x="8195767" y="1086307"/>
            <a:ext cx="3279038" cy="416966"/>
          </a:xfrm>
          <a:prstGeom prst="rect">
            <a:avLst/>
          </a:prstGeom>
          <a:noFill/>
          <a:ln/>
        </p:spPr>
        <p:txBody>
          <a:bodyPr wrap="square" lIns="0" tIns="0" rIns="0" bIns="0" rtlCol="0" anchor="t">
            <a:normAutofit/>
          </a:bodyPr>
          <a:lstStyle/>
          <a:p>
            <a:pPr algn="l" indent="0" marL="0">
              <a:lnSpc>
                <a:spcPts val="3080"/>
              </a:lnSpc>
              <a:buNone/>
            </a:pPr>
            <a:r>
              <a:rPr lang="en-US" altLang="en-US" sz="2200" b="1" dirty="0">
                <a:solidFill>
                  <a:srgbClr val="E9EBE4"/>
                </a:solidFill>
                <a:latin typeface="Domine" pitchFamily="34" charset="0"/>
                <a:ea typeface="Domine" pitchFamily="34" charset="-122"/>
                <a:cs typeface="Domine" pitchFamily="34" charset="-120"/>
              </a:rPr>
              <a:t>repaid in 12 months</a:t>
            </a:r>
            <a:endParaRPr lang="en-US" sz="2200" dirty="0"/>
          </a:p>
        </p:txBody>
      </p:sp>
      <p:sp>
        <p:nvSpPr>
          <p:cNvPr id="10" name="Text 6"/>
          <p:cNvSpPr txBox="1"/>
          <p:nvPr/>
        </p:nvSpPr>
        <p:spPr>
          <a:xfrm>
            <a:off x="812902" y="2788006"/>
            <a:ext cx="10464394" cy="1371600"/>
          </a:xfrm>
          <a:prstGeom prst="rect">
            <a:avLst/>
          </a:prstGeom>
          <a:noFill/>
          <a:ln/>
        </p:spPr>
        <p:txBody>
          <a:bodyPr wrap="square" lIns="0" tIns="0" rIns="0" bIns="0" rtlCol="0" anchor="t">
            <a:normAutofit/>
          </a:bodyPr>
          <a:lstStyle/>
          <a:p>
            <a:pPr algn="l" indent="0" marL="0">
              <a:lnSpc>
                <a:spcPts val="5280"/>
              </a:lnSpc>
              <a:buNone/>
            </a:pPr>
            <a:r>
              <a:rPr lang="en-US" altLang="en-US" sz="4800" b="1" dirty="0">
                <a:solidFill>
                  <a:srgbClr val="E9EBE4"/>
                </a:solidFill>
                <a:latin typeface="Domine" pitchFamily="34" charset="0"/>
                <a:ea typeface="Domine" pitchFamily="34" charset="-122"/>
                <a:cs typeface="Domine" pitchFamily="34" charset="-120"/>
              </a:rPr>
              <a:t>Airbnb helps people stay.</a:t>
            </a:r>
            <a:endParaRPr lang="en-US" sz="4800" dirty="0"/>
          </a:p>
          <a:p>
            <a:pPr algn="l" indent="0" marL="0">
              <a:lnSpc>
                <a:spcPts val="5280"/>
              </a:lnSpc>
              <a:buNone/>
            </a:pPr>
            <a:r>
              <a:rPr lang="en-US" altLang="en-US" sz="4800" b="1" dirty="0">
                <a:solidFill>
                  <a:srgbClr val="E9EBE4"/>
                </a:solidFill>
                <a:latin typeface="Domine" pitchFamily="34" charset="0"/>
                <a:ea typeface="Domine" pitchFamily="34" charset="-122"/>
                <a:cs typeface="Domine" pitchFamily="34" charset="-120"/>
              </a:rPr>
              <a:t>RuralRiver helps a village work.</a:t>
            </a:r>
            <a:endParaRPr lang="en-US" sz="4800" dirty="0"/>
          </a:p>
        </p:txBody>
      </p:sp>
      <p:sp>
        <p:nvSpPr>
          <p:cNvPr id="11" name="Text 7"/>
          <p:cNvSpPr txBox="1"/>
          <p:nvPr/>
        </p:nvSpPr>
        <p:spPr>
          <a:xfrm>
            <a:off x="812902" y="5440680"/>
            <a:ext cx="9810598" cy="630936"/>
          </a:xfrm>
          <a:prstGeom prst="rect">
            <a:avLst/>
          </a:prstGeom>
          <a:noFill/>
          <a:ln/>
        </p:spPr>
        <p:txBody>
          <a:bodyPr wrap="square" lIns="0" tIns="0" rIns="0" bIns="0" rtlCol="0" anchor="t">
            <a:normAutofit/>
          </a:bodyPr>
          <a:lstStyle/>
          <a:p>
            <a:pPr algn="l" indent="0" marL="0">
              <a:lnSpc>
                <a:spcPts val="2380"/>
              </a:lnSpc>
              <a:buNone/>
            </a:pPr>
            <a:r>
              <a:rPr lang="en-US" altLang="en-US" sz="1700" dirty="0">
                <a:solidFill>
                  <a:srgbClr val="A9B6A8"/>
                </a:solidFill>
                <a:latin typeface="Nunito Sans" pitchFamily="34" charset="0"/>
                <a:ea typeface="Nunito Sans" pitchFamily="34" charset="-122"/>
                <a:cs typeface="Nunito Sans" pitchFamily="34" charset="-120"/>
              </a:rPr>
              <a:t>A village already has houses, land, cooks and musicians. What it does not have is someone to put them to work. We are that someone.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F5D4A"/>
        </a:solidFill>
      </p:bgPr>
    </p:bg>
    <p:spTree>
      <p:nvGrpSpPr>
        <p:cNvPr id="1" name=""/>
        <p:cNvGrpSpPr/>
        <p:nvPr/>
      </p:nvGrpSpPr>
      <p:grpSpPr>
        <a:xfrm>
          <a:off x="0" y="0"/>
          <a:ext cx="0" cy="0"/>
          <a:chOff x="0" y="0"/>
          <a:chExt cx="0" cy="0"/>
        </a:xfrm>
      </p:grpSpPr>
      <p:pic>
        <p:nvPicPr>
          <p:cNvPr id="2"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4" name="Image 1" descr="preencoded.png">    </p:cNvPr>
          <p:cNvPicPr>
            <a:picLocks noChangeAspect="1"/>
          </p:cNvPicPr>
          <p:nvPr/>
        </p:nvPicPr>
        <p:blipFill>
          <a:blip r:embed="rId2"/>
          <a:srcRect l="0" r="0" t="0" b="0"/>
          <a:stretch/>
        </p:blipFill>
        <p:spPr>
          <a:xfrm>
            <a:off x="812902" y="2103120"/>
            <a:ext cx="822960" cy="822960"/>
          </a:xfrm>
          <a:prstGeom prst="rect">
            <a:avLst/>
          </a:prstGeom>
        </p:spPr>
      </p:pic>
      <p:sp>
        <p:nvSpPr>
          <p:cNvPr id="5" name="Text 0"/>
          <p:cNvSpPr txBox="1"/>
          <p:nvPr/>
        </p:nvSpPr>
        <p:spPr>
          <a:xfrm>
            <a:off x="812902" y="3063240"/>
            <a:ext cx="4572000"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B8CC5E"/>
                </a:solidFill>
                <a:latin typeface="Nunito Sans" pitchFamily="34" charset="0"/>
                <a:ea typeface="Nunito Sans" pitchFamily="34" charset="-122"/>
                <a:cs typeface="Nunito Sans" pitchFamily="34" charset="-120"/>
              </a:rPr>
              <a:t>BACKUP</a:t>
            </a:r>
            <a:endParaRPr lang="en-US" sz="1300" dirty="0"/>
          </a:p>
        </p:txBody>
      </p:sp>
      <p:sp>
        <p:nvSpPr>
          <p:cNvPr id="6" name="Text 1"/>
          <p:cNvSpPr txBox="1"/>
          <p:nvPr/>
        </p:nvSpPr>
        <p:spPr>
          <a:xfrm>
            <a:off x="812902" y="3429000"/>
            <a:ext cx="10058400" cy="594360"/>
          </a:xfrm>
          <a:prstGeom prst="rect">
            <a:avLst/>
          </a:prstGeom>
          <a:noFill/>
          <a:ln/>
        </p:spPr>
        <p:txBody>
          <a:bodyPr wrap="square" lIns="0" tIns="0" rIns="0" bIns="0" rtlCol="0" anchor="t">
            <a:normAutofit/>
          </a:bodyPr>
          <a:lstStyle/>
          <a:p>
            <a:pPr algn="l" indent="0" marL="0">
              <a:lnSpc>
                <a:spcPts val="4000"/>
              </a:lnSpc>
              <a:buNone/>
            </a:pPr>
            <a:r>
              <a:rPr lang="en-US" altLang="en-US" sz="3600" b="1" dirty="0">
                <a:solidFill>
                  <a:srgbClr val="E9EBE4"/>
                </a:solidFill>
                <a:latin typeface="Domine" pitchFamily="34" charset="0"/>
                <a:ea typeface="Domine" pitchFamily="34" charset="-122"/>
                <a:cs typeface="Domine" pitchFamily="34" charset="-120"/>
              </a:rPr>
              <a:t>Twelve slides for twelve questions.</a:t>
            </a:r>
            <a:endParaRPr lang="en-US" sz="3600" dirty="0"/>
          </a:p>
        </p:txBody>
      </p:sp>
      <p:sp>
        <p:nvSpPr>
          <p:cNvPr id="7" name="Text 2"/>
          <p:cNvSpPr txBox="1"/>
          <p:nvPr/>
        </p:nvSpPr>
        <p:spPr>
          <a:xfrm>
            <a:off x="812902" y="4160520"/>
            <a:ext cx="9601200" cy="365760"/>
          </a:xfrm>
          <a:prstGeom prst="rect">
            <a:avLst/>
          </a:prstGeom>
          <a:noFill/>
          <a:ln/>
        </p:spPr>
        <p:txBody>
          <a:bodyPr wrap="square" lIns="0" tIns="0" rIns="0" bIns="0" rtlCol="0" anchor="t">
            <a:normAutofit/>
          </a:bodyPr>
          <a:lstStyle/>
          <a:p>
            <a:pPr algn="l" indent="0" marL="0">
              <a:lnSpc>
                <a:spcPts val="2100"/>
              </a:lnSpc>
              <a:buNone/>
            </a:pPr>
            <a:r>
              <a:rPr lang="en-US" altLang="en-US" sz="1500" dirty="0">
                <a:solidFill>
                  <a:srgbClr val="A9B6A8"/>
                </a:solidFill>
                <a:latin typeface="Nunito Sans" pitchFamily="34" charset="0"/>
                <a:ea typeface="Nunito Sans" pitchFamily="34" charset="-122"/>
                <a:cs typeface="Nunito Sans" pitchFamily="34" charset="-120"/>
              </a:rPr>
              <a:t>Not part of the five minutes. Jump straight to the one that answers the question asked.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1</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“Isn't this just rural tourism?”</a:t>
            </a:r>
            <a:endParaRPr lang="en-US" sz="3000" dirty="0"/>
          </a:p>
        </p:txBody>
      </p:sp>
      <p:sp>
        <p:nvSpPr>
          <p:cNvPr id="4" name="Text 2"/>
          <p:cNvSpPr txBox="1"/>
          <p:nvPr/>
        </p:nvSpPr>
        <p:spPr>
          <a:xfrm>
            <a:off x="812902" y="6238037"/>
            <a:ext cx="82296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52% of Year 1 revenue comes from villagers' land: events on it and leases of it</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121408"/>
            <a:ext cx="5029200" cy="2514600"/>
          </a:xfrm>
          <a:prstGeom prst="roundRect">
            <a:avLst>
              <a:gd name="adj" fmla="val 4545"/>
            </a:avLst>
          </a:prstGeom>
          <a:solidFill>
            <a:srgbClr val="DCE0D3"/>
          </a:solidFill>
          <a:ln w="12700">
            <a:solidFill>
              <a:srgbClr val="DCE0D3"/>
            </a:solidFill>
            <a:prstDash val="solid"/>
          </a:ln>
        </p:spPr>
      </p:sp>
      <p:pic>
        <p:nvPicPr>
          <p:cNvPr id="8" name="Image 1" descr="preencoded.png">    </p:cNvPr>
          <p:cNvPicPr>
            <a:picLocks noChangeAspect="1"/>
          </p:cNvPicPr>
          <p:nvPr/>
        </p:nvPicPr>
        <p:blipFill>
          <a:blip r:embed="rId2"/>
          <a:stretch>
            <a:fillRect/>
          </a:stretch>
        </p:blipFill>
        <p:spPr>
          <a:xfrm>
            <a:off x="1087222" y="2377440"/>
            <a:ext cx="304495" cy="304495"/>
          </a:xfrm>
          <a:prstGeom prst="rect">
            <a:avLst/>
          </a:prstGeom>
        </p:spPr>
      </p:pic>
      <p:sp>
        <p:nvSpPr>
          <p:cNvPr id="9" name="Text 4"/>
          <p:cNvSpPr txBox="1"/>
          <p:nvPr/>
        </p:nvSpPr>
        <p:spPr>
          <a:xfrm>
            <a:off x="1087222" y="2788920"/>
            <a:ext cx="457200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TOURISM</a:t>
            </a:r>
            <a:endParaRPr lang="en-US" sz="1250" dirty="0"/>
          </a:p>
        </p:txBody>
      </p:sp>
      <p:sp>
        <p:nvSpPr>
          <p:cNvPr id="10" name="Text 5"/>
          <p:cNvSpPr txBox="1"/>
          <p:nvPr/>
        </p:nvSpPr>
        <p:spPr>
          <a:xfrm>
            <a:off x="1087222" y="3108960"/>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59605A"/>
                </a:solidFill>
                <a:latin typeface="Nunito Sans" pitchFamily="34" charset="0"/>
                <a:ea typeface="Nunito Sans" pitchFamily="34" charset="-122"/>
                <a:cs typeface="Nunito Sans" pitchFamily="34" charset="-120"/>
              </a:rPr>
              <a:t>Days, not years</a:t>
            </a:r>
            <a:endParaRPr lang="en-US" sz="1400" dirty="0"/>
          </a:p>
        </p:txBody>
      </p:sp>
      <p:sp>
        <p:nvSpPr>
          <p:cNvPr id="11" name="Text 6"/>
          <p:cNvSpPr txBox="1"/>
          <p:nvPr/>
        </p:nvSpPr>
        <p:spPr>
          <a:xfrm>
            <a:off x="1087222" y="3438144"/>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59605A"/>
                </a:solidFill>
                <a:latin typeface="Nunito Sans" pitchFamily="34" charset="0"/>
                <a:ea typeface="Nunito Sans" pitchFamily="34" charset="-122"/>
                <a:cs typeface="Nunito Sans" pitchFamily="34" charset="-120"/>
              </a:rPr>
              <a:t>Sells an escape</a:t>
            </a:r>
            <a:endParaRPr lang="en-US" sz="1400" dirty="0"/>
          </a:p>
        </p:txBody>
      </p:sp>
      <p:sp>
        <p:nvSpPr>
          <p:cNvPr id="12" name="Text 7"/>
          <p:cNvSpPr txBox="1"/>
          <p:nvPr/>
        </p:nvSpPr>
        <p:spPr>
          <a:xfrm>
            <a:off x="1087222" y="3767328"/>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59605A"/>
                </a:solidFill>
                <a:latin typeface="Nunito Sans" pitchFamily="34" charset="0"/>
                <a:ea typeface="Nunito Sans" pitchFamily="34" charset="-122"/>
                <a:cs typeface="Nunito Sans" pitchFamily="34" charset="-120"/>
              </a:rPr>
              <a:t>Revenue ends when they leave</a:t>
            </a:r>
            <a:endParaRPr lang="en-US" sz="1400" dirty="0"/>
          </a:p>
        </p:txBody>
      </p:sp>
      <p:sp>
        <p:nvSpPr>
          <p:cNvPr id="13" name="Text 8"/>
          <p:cNvSpPr txBox="1"/>
          <p:nvPr/>
        </p:nvSpPr>
        <p:spPr>
          <a:xfrm>
            <a:off x="1087222" y="4096512"/>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59605A"/>
                </a:solidFill>
                <a:latin typeface="Nunito Sans" pitchFamily="34" charset="0"/>
                <a:ea typeface="Nunito Sans" pitchFamily="34" charset="-122"/>
                <a:cs typeface="Nunito Sans" pitchFamily="34" charset="-120"/>
              </a:rPr>
              <a:t>Village gets a visitor</a:t>
            </a:r>
            <a:endParaRPr lang="en-US" sz="1400" dirty="0"/>
          </a:p>
        </p:txBody>
      </p:sp>
      <p:sp>
        <p:nvSpPr>
          <p:cNvPr id="14" name="Shape 9"/>
          <p:cNvSpPr/>
          <p:nvPr/>
        </p:nvSpPr>
        <p:spPr>
          <a:xfrm>
            <a:off x="6345022" y="2121408"/>
            <a:ext cx="5029200" cy="2514600"/>
          </a:xfrm>
          <a:prstGeom prst="roundRect">
            <a:avLst>
              <a:gd name="adj" fmla="val 4545"/>
            </a:avLst>
          </a:prstGeom>
          <a:solidFill>
            <a:srgbClr val="0E1310"/>
          </a:solidFill>
          <a:ln w="12700">
            <a:solidFill>
              <a:srgbClr val="0E1310"/>
            </a:solidFill>
            <a:prstDash val="solid"/>
          </a:ln>
        </p:spPr>
      </p:sp>
      <p:pic>
        <p:nvPicPr>
          <p:cNvPr id="15" name="Image 2" descr="preencoded.png">    </p:cNvPr>
          <p:cNvPicPr>
            <a:picLocks noChangeAspect="1"/>
          </p:cNvPicPr>
          <p:nvPr/>
        </p:nvPicPr>
        <p:blipFill>
          <a:blip r:embed="rId3"/>
          <a:stretch>
            <a:fillRect/>
          </a:stretch>
        </p:blipFill>
        <p:spPr>
          <a:xfrm>
            <a:off x="6619342" y="2377440"/>
            <a:ext cx="304495" cy="304495"/>
          </a:xfrm>
          <a:prstGeom prst="rect">
            <a:avLst/>
          </a:prstGeom>
        </p:spPr>
      </p:pic>
      <p:sp>
        <p:nvSpPr>
          <p:cNvPr id="16" name="Text 10"/>
          <p:cNvSpPr txBox="1"/>
          <p:nvPr/>
        </p:nvSpPr>
        <p:spPr>
          <a:xfrm>
            <a:off x="6619342" y="2788920"/>
            <a:ext cx="457200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A7C049"/>
                </a:solidFill>
                <a:latin typeface="Nunito Sans" pitchFamily="34" charset="0"/>
                <a:ea typeface="Nunito Sans" pitchFamily="34" charset="-122"/>
                <a:cs typeface="Nunito Sans" pitchFamily="34" charset="-120"/>
              </a:rPr>
              <a:t>RURALRIVER</a:t>
            </a:r>
            <a:endParaRPr lang="en-US" sz="1250" dirty="0"/>
          </a:p>
        </p:txBody>
      </p:sp>
      <p:sp>
        <p:nvSpPr>
          <p:cNvPr id="17" name="Text 11"/>
          <p:cNvSpPr txBox="1"/>
          <p:nvPr/>
        </p:nvSpPr>
        <p:spPr>
          <a:xfrm>
            <a:off x="6619342" y="3108960"/>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E9EBE4"/>
                </a:solidFill>
                <a:latin typeface="Nunito Sans" pitchFamily="34" charset="0"/>
                <a:ea typeface="Nunito Sans" pitchFamily="34" charset="-122"/>
                <a:cs typeface="Nunito Sans" pitchFamily="34" charset="-120"/>
              </a:rPr>
              <a:t>Leases of 5 to 25 years</a:t>
            </a:r>
            <a:endParaRPr lang="en-US" sz="1400" dirty="0"/>
          </a:p>
        </p:txBody>
      </p:sp>
      <p:sp>
        <p:nvSpPr>
          <p:cNvPr id="18" name="Text 12"/>
          <p:cNvSpPr txBox="1"/>
          <p:nvPr/>
        </p:nvSpPr>
        <p:spPr>
          <a:xfrm>
            <a:off x="6619342" y="3438144"/>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E9EBE4"/>
                </a:solidFill>
                <a:latin typeface="Nunito Sans" pitchFamily="34" charset="0"/>
                <a:ea typeface="Nunito Sans" pitchFamily="34" charset="-122"/>
                <a:cs typeface="Nunito Sans" pitchFamily="34" charset="-120"/>
              </a:rPr>
              <a:t>Sells a village that works</a:t>
            </a:r>
            <a:endParaRPr lang="en-US" sz="1400" dirty="0"/>
          </a:p>
        </p:txBody>
      </p:sp>
      <p:sp>
        <p:nvSpPr>
          <p:cNvPr id="19" name="Text 13"/>
          <p:cNvSpPr txBox="1"/>
          <p:nvPr/>
        </p:nvSpPr>
        <p:spPr>
          <a:xfrm>
            <a:off x="6619342" y="3767328"/>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E9EBE4"/>
                </a:solidFill>
                <a:latin typeface="Nunito Sans" pitchFamily="34" charset="0"/>
                <a:ea typeface="Nunito Sans" pitchFamily="34" charset="-122"/>
                <a:cs typeface="Nunito Sans" pitchFamily="34" charset="-120"/>
              </a:rPr>
              <a:t>Revenue every year the project stays</a:t>
            </a:r>
            <a:endParaRPr lang="en-US" sz="1400" dirty="0"/>
          </a:p>
        </p:txBody>
      </p:sp>
      <p:sp>
        <p:nvSpPr>
          <p:cNvPr id="20" name="Text 14"/>
          <p:cNvSpPr txBox="1"/>
          <p:nvPr/>
        </p:nvSpPr>
        <p:spPr>
          <a:xfrm>
            <a:off x="6619342" y="4096512"/>
            <a:ext cx="4572000" cy="292608"/>
          </a:xfrm>
          <a:prstGeom prst="rect">
            <a:avLst/>
          </a:prstGeom>
          <a:noFill/>
          <a:ln/>
        </p:spPr>
        <p:txBody>
          <a:bodyPr wrap="square" lIns="0" tIns="0" rIns="0" bIns="0" rtlCol="0" anchor="t">
            <a:normAutofit/>
          </a:bodyPr>
          <a:lstStyle/>
          <a:p>
            <a:pPr algn="l" indent="0" marL="0">
              <a:lnSpc>
                <a:spcPts val="1960"/>
              </a:lnSpc>
              <a:buNone/>
            </a:pPr>
            <a:r>
              <a:rPr lang="en-US" altLang="en-US" sz="1400" dirty="0">
                <a:solidFill>
                  <a:srgbClr val="E9EBE4"/>
                </a:solidFill>
                <a:latin typeface="Nunito Sans" pitchFamily="34" charset="0"/>
                <a:ea typeface="Nunito Sans" pitchFamily="34" charset="-122"/>
                <a:cs typeface="Nunito Sans" pitchFamily="34" charset="-120"/>
              </a:rPr>
              <a:t>Village gets rent and jobs</a:t>
            </a:r>
            <a:endParaRPr lang="en-US" sz="1400" dirty="0"/>
          </a:p>
        </p:txBody>
      </p:sp>
      <p:sp>
        <p:nvSpPr>
          <p:cNvPr id="21" name="Text 15"/>
          <p:cNvSpPr txBox="1"/>
          <p:nvPr/>
        </p:nvSpPr>
        <p:spPr>
          <a:xfrm>
            <a:off x="812902" y="4937760"/>
            <a:ext cx="10149840" cy="685800"/>
          </a:xfrm>
          <a:prstGeom prst="rect">
            <a:avLst/>
          </a:prstGeom>
          <a:noFill/>
          <a:ln/>
        </p:spPr>
        <p:txBody>
          <a:bodyPr wrap="square" lIns="0" tIns="0" rIns="0" bIns="0" rtlCol="0" anchor="t">
            <a:normAutofit/>
          </a:bodyPr>
          <a:lstStyle/>
          <a:p>
            <a:pPr algn="l" indent="0" marL="0">
              <a:lnSpc>
                <a:spcPts val="2150"/>
              </a:lnSpc>
              <a:buNone/>
            </a:pPr>
            <a:r>
              <a:rPr lang="en-US" altLang="en-US" sz="1500" dirty="0">
                <a:solidFill>
                  <a:srgbClr val="0E1310"/>
                </a:solidFill>
                <a:latin typeface="Nunito Sans" pitchFamily="34" charset="0"/>
                <a:ea typeface="Nunito Sans" pitchFamily="34" charset="-122"/>
                <a:cs typeface="Nunito Sans" pitchFamily="34" charset="-120"/>
              </a:rPr>
              <a:t>Stays and events pay the loan in the first year. Land leases are what remain in year five: the owner is still paid, the crew is still hired, and we still manage the lease.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2</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“Why €220 and not more?”</a:t>
            </a:r>
            <a:endParaRPr lang="en-US" sz="3000" dirty="0"/>
          </a:p>
        </p:txBody>
      </p:sp>
      <p:sp>
        <p:nvSpPr>
          <p:cNvPr id="4" name="Text 2"/>
          <p:cNvSpPr txBox="1"/>
          <p:nvPr/>
        </p:nvSpPr>
        <p:spPr>
          <a:xfrm>
            <a:off x="812902" y="6238037"/>
            <a:ext cx="100584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Sources: Somos Comarca (Rural Valley) · anceu.com · EscapadaRural (group houses in Ourense) · our prices are estimates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2902" y="2103120"/>
          <a:ext cx="10566806" cy="914400"/>
        </p:xfrm>
        <a:graphic>
          <a:graphicData uri="http://schemas.openxmlformats.org/drawingml/2006/table">
            <a:tbl>
              <a:tblPr/>
              <a:tblGrid>
                <a:gridCol w="3566160"/>
                <a:gridCol w="2194560"/>
                <a:gridCol w="4806086"/>
              </a:tblGrid>
              <a:tr h="402336">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OFFER</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PRICE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INCLUDES</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402336">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Rural Valley campus, same village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€350 / month</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Housing, meals, gigabit, mentoring; founders only, one year</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402336">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Anceu Coliving, rural Galicia</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€882 / month</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Room, coworking, fibre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402336">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Group houses, Ourense province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from €15 / person / night</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Four walls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402336">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RuralRiver · Discover Trives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€220 / week</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Guided walk, canyon, winery, dinner, concierge; house booked with the owner</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402336">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RuralRiver · A season here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€900 / 3 months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Weekly activities, introductions, desk, first look at parcels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bl>
          </a:graphicData>
        </a:graphic>
      </p:graphicFrame>
      <p:sp>
        <p:nvSpPr>
          <p:cNvPr id="8" name="Text 3"/>
          <p:cNvSpPr txBox="1"/>
          <p:nvPr/>
        </p:nvSpPr>
        <p:spPr>
          <a:xfrm>
            <a:off x="812902" y="5120640"/>
            <a:ext cx="10149840" cy="457200"/>
          </a:xfrm>
          <a:prstGeom prst="rect">
            <a:avLst/>
          </a:prstGeom>
          <a:noFill/>
          <a:ln/>
        </p:spPr>
        <p:txBody>
          <a:bodyPr wrap="square" lIns="0" tIns="0" rIns="0" bIns="0" rtlCol="0" anchor="t">
            <a:normAutofit/>
          </a:bodyPr>
          <a:lstStyle/>
          <a:p>
            <a:pPr algn="l" indent="0" marL="0">
              <a:lnSpc>
                <a:spcPts val="2240"/>
              </a:lnSpc>
              <a:buNone/>
            </a:pPr>
            <a:r>
              <a:rPr lang="en-US" altLang="en-US" sz="1600" dirty="0">
                <a:solidFill>
                  <a:srgbClr val="0E1310"/>
                </a:solidFill>
                <a:latin typeface="Nunito Sans" pitchFamily="34" charset="0"/>
                <a:ea typeface="Nunito Sans" pitchFamily="34" charset="-122"/>
                <a:cs typeface="Nunito Sans" pitchFamily="34" charset="-120"/>
              </a:rPr>
              <a:t>We sell the week, the season and the years. The bed is the owner's business, at the owner's price.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BACKUP 3</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E9EBE4"/>
                </a:solidFill>
                <a:latin typeface="Domine" pitchFamily="34" charset="0"/>
                <a:ea typeface="Domine" pitchFamily="34" charset="-122"/>
                <a:cs typeface="Domine" pitchFamily="34" charset="-120"/>
              </a:rPr>
              <a:t>“Rural Valley charges €350 in the same village.”</a:t>
            </a:r>
            <a:endParaRPr lang="en-US" sz="3000" dirty="0"/>
          </a:p>
        </p:txBody>
      </p:sp>
      <p:sp>
        <p:nvSpPr>
          <p:cNvPr id="4" name="Text 2"/>
          <p:cNvSpPr txBox="1"/>
          <p:nvPr/>
        </p:nvSpPr>
        <p:spPr>
          <a:xfrm>
            <a:off x="812902" y="6238037"/>
            <a:ext cx="100584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Rural Valley campus, Os Biocos · first cohort March 2027 · 120 entrepreneurs a year from 16 countries · Somos Comarca, June 2026</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123237"/>
            <a:ext cx="3411626" cy="2331720"/>
          </a:xfrm>
          <a:prstGeom prst="roundRect">
            <a:avLst>
              <a:gd name="adj" fmla="val 4902"/>
            </a:avLst>
          </a:prstGeom>
          <a:solidFill>
            <a:srgbClr val="2F5D4A"/>
          </a:solidFill>
          <a:ln w="12700">
            <a:solidFill>
              <a:srgbClr val="2F5D4A"/>
            </a:solidFill>
            <a:prstDash val="solid"/>
          </a:ln>
        </p:spPr>
      </p:sp>
      <p:pic>
        <p:nvPicPr>
          <p:cNvPr id="8" name="Image 1" descr="preencoded.png">    </p:cNvPr>
          <p:cNvPicPr>
            <a:picLocks noChangeAspect="1"/>
          </p:cNvPicPr>
          <p:nvPr/>
        </p:nvPicPr>
        <p:blipFill>
          <a:blip r:embed="rId2"/>
          <a:stretch>
            <a:fillRect/>
          </a:stretch>
        </p:blipFill>
        <p:spPr>
          <a:xfrm>
            <a:off x="1041502" y="2351837"/>
            <a:ext cx="304495" cy="304495"/>
          </a:xfrm>
          <a:prstGeom prst="rect">
            <a:avLst/>
          </a:prstGeom>
        </p:spPr>
      </p:pic>
      <p:sp>
        <p:nvSpPr>
          <p:cNvPr id="9" name="Text 4"/>
          <p:cNvSpPr txBox="1"/>
          <p:nvPr/>
        </p:nvSpPr>
        <p:spPr>
          <a:xfrm>
            <a:off x="1041502"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Proof of demand</a:t>
            </a:r>
            <a:endParaRPr lang="en-US" sz="1900" dirty="0"/>
          </a:p>
        </p:txBody>
      </p:sp>
      <p:sp>
        <p:nvSpPr>
          <p:cNvPr id="10" name="Text 5"/>
          <p:cNvSpPr txBox="1"/>
          <p:nvPr/>
        </p:nvSpPr>
        <p:spPr>
          <a:xfrm>
            <a:off x="1041502" y="3193085"/>
            <a:ext cx="2954426" cy="11430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A village of 510 people is betting public money on attracting 120 entrepreneurs a year. The market is already validated.</a:t>
            </a:r>
            <a:endParaRPr lang="en-US" sz="1400" dirty="0"/>
          </a:p>
        </p:txBody>
      </p:sp>
      <p:sp>
        <p:nvSpPr>
          <p:cNvPr id="11" name="Shape 6"/>
          <p:cNvSpPr/>
          <p:nvPr/>
        </p:nvSpPr>
        <p:spPr>
          <a:xfrm>
            <a:off x="4390034" y="2123237"/>
            <a:ext cx="3411626" cy="2331720"/>
          </a:xfrm>
          <a:prstGeom prst="roundRect">
            <a:avLst>
              <a:gd name="adj" fmla="val 4902"/>
            </a:avLst>
          </a:prstGeom>
          <a:solidFill>
            <a:srgbClr val="2F5D4A"/>
          </a:solidFill>
          <a:ln w="12700">
            <a:solidFill>
              <a:srgbClr val="2F5D4A"/>
            </a:solidFill>
            <a:prstDash val="solid"/>
          </a:ln>
        </p:spPr>
      </p:sp>
      <p:pic>
        <p:nvPicPr>
          <p:cNvPr id="12" name="Image 2" descr="preencoded.png">    </p:cNvPr>
          <p:cNvPicPr>
            <a:picLocks noChangeAspect="1"/>
          </p:cNvPicPr>
          <p:nvPr/>
        </p:nvPicPr>
        <p:blipFill>
          <a:blip r:embed="rId3"/>
          <a:stretch>
            <a:fillRect/>
          </a:stretch>
        </p:blipFill>
        <p:spPr>
          <a:xfrm>
            <a:off x="4618634" y="2351837"/>
            <a:ext cx="304495" cy="304495"/>
          </a:xfrm>
          <a:prstGeom prst="rect">
            <a:avLst/>
          </a:prstGeom>
        </p:spPr>
      </p:pic>
      <p:sp>
        <p:nvSpPr>
          <p:cNvPr id="13" name="Text 7"/>
          <p:cNvSpPr txBox="1"/>
          <p:nvPr/>
        </p:nvSpPr>
        <p:spPr>
          <a:xfrm>
            <a:off x="4618634"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It has an exit date</a:t>
            </a:r>
            <a:endParaRPr lang="en-US" sz="1900" dirty="0"/>
          </a:p>
        </p:txBody>
      </p:sp>
      <p:sp>
        <p:nvSpPr>
          <p:cNvPr id="14" name="Text 8"/>
          <p:cNvSpPr txBox="1"/>
          <p:nvPr/>
        </p:nvSpPr>
        <p:spPr>
          <a:xfrm>
            <a:off x="4618634" y="3193085"/>
            <a:ext cx="2954426" cy="11430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A subsidised one-year cohort for founders only. No land, no events, no housing after.</a:t>
            </a:r>
            <a:endParaRPr lang="en-US" sz="1400" dirty="0"/>
          </a:p>
        </p:txBody>
      </p:sp>
      <p:sp>
        <p:nvSpPr>
          <p:cNvPr id="15" name="Shape 9"/>
          <p:cNvSpPr/>
          <p:nvPr/>
        </p:nvSpPr>
        <p:spPr>
          <a:xfrm>
            <a:off x="7967167" y="2123237"/>
            <a:ext cx="3411626" cy="2331720"/>
          </a:xfrm>
          <a:prstGeom prst="roundRect">
            <a:avLst>
              <a:gd name="adj" fmla="val 4902"/>
            </a:avLst>
          </a:prstGeom>
          <a:solidFill>
            <a:srgbClr val="2F5D4A"/>
          </a:solidFill>
          <a:ln w="12700">
            <a:solidFill>
              <a:srgbClr val="2F5D4A"/>
            </a:solidFill>
            <a:prstDash val="solid"/>
          </a:ln>
        </p:spPr>
      </p:sp>
      <p:pic>
        <p:nvPicPr>
          <p:cNvPr id="16" name="Image 3" descr="preencoded.png">    </p:cNvPr>
          <p:cNvPicPr>
            <a:picLocks noChangeAspect="1"/>
          </p:cNvPicPr>
          <p:nvPr/>
        </p:nvPicPr>
        <p:blipFill>
          <a:blip r:embed="rId4"/>
          <a:stretch>
            <a:fillRect/>
          </a:stretch>
        </p:blipFill>
        <p:spPr>
          <a:xfrm>
            <a:off x="8195767" y="2351837"/>
            <a:ext cx="304495" cy="304495"/>
          </a:xfrm>
          <a:prstGeom prst="rect">
            <a:avLst/>
          </a:prstGeom>
        </p:spPr>
      </p:pic>
      <p:sp>
        <p:nvSpPr>
          <p:cNvPr id="17" name="Text 10"/>
          <p:cNvSpPr txBox="1"/>
          <p:nvPr/>
        </p:nvSpPr>
        <p:spPr>
          <a:xfrm>
            <a:off x="8195767"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120 warm leads a year</a:t>
            </a:r>
            <a:endParaRPr lang="en-US" sz="1900" dirty="0"/>
          </a:p>
        </p:txBody>
      </p:sp>
      <p:sp>
        <p:nvSpPr>
          <p:cNvPr id="18" name="Text 11"/>
          <p:cNvSpPr txBox="1"/>
          <p:nvPr/>
        </p:nvSpPr>
        <p:spPr>
          <a:xfrm>
            <a:off x="8195767" y="3193085"/>
            <a:ext cx="2954426" cy="11430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Guests, event clients, and agri-food founders who need parcels, arriving on someone else's budget.</a:t>
            </a:r>
            <a:endParaRPr lang="en-US" sz="1400" dirty="0"/>
          </a:p>
        </p:txBody>
      </p:sp>
      <p:sp>
        <p:nvSpPr>
          <p:cNvPr id="19" name="Text 12"/>
          <p:cNvSpPr txBox="1"/>
          <p:nvPr/>
        </p:nvSpPr>
        <p:spPr>
          <a:xfrm>
            <a:off x="812902" y="4983480"/>
            <a:ext cx="10202875" cy="786384"/>
          </a:xfrm>
          <a:prstGeom prst="rect">
            <a:avLst/>
          </a:prstGeom>
          <a:noFill/>
          <a:ln/>
        </p:spPr>
        <p:txBody>
          <a:bodyPr wrap="square" lIns="0" tIns="0" rIns="0" bIns="0" rtlCol="0" anchor="t">
            <a:normAutofit/>
          </a:bodyPr>
          <a:lstStyle/>
          <a:p>
            <a:pPr algn="l" indent="0" marL="0">
              <a:lnSpc>
                <a:spcPts val="2990"/>
              </a:lnSpc>
              <a:buNone/>
            </a:pPr>
            <a:r>
              <a:rPr lang="en-US" altLang="en-US" sz="2300" b="1" dirty="0">
                <a:solidFill>
                  <a:srgbClr val="E9EBE4"/>
                </a:solidFill>
                <a:latin typeface="Domine" pitchFamily="34" charset="0"/>
                <a:ea typeface="Domine" pitchFamily="34" charset="-122"/>
                <a:cs typeface="Domine" pitchFamily="34" charset="-120"/>
              </a:rPr>
              <a:t>Rural Valley proves people will come. We are what they do with the village once they are here.</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BACKUP 4</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E9EBE4"/>
                </a:solidFill>
                <a:latin typeface="Domine" pitchFamily="34" charset="0"/>
                <a:ea typeface="Domine" pitchFamily="34" charset="-122"/>
                <a:cs typeface="Domine" pitchFamily="34" charset="-120"/>
              </a:rPr>
              <a:t>What one lease is worth</a:t>
            </a:r>
            <a:endParaRPr lang="en-US" sz="3000" dirty="0"/>
          </a:p>
        </p:txBody>
      </p:sp>
      <p:sp>
        <p:nvSpPr>
          <p:cNvPr id="4" name="Text 2"/>
          <p:cNvSpPr txBox="1"/>
          <p:nvPr/>
        </p:nvSpPr>
        <p:spPr>
          <a:xfrm>
            <a:off x="812902" y="6238037"/>
            <a:ext cx="100584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Example: Veigas de Cambela, 6.2 ha at €160/ha, 10 years, organic vegetables · rents and jobs are estimates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Text 3"/>
          <p:cNvSpPr txBox="1"/>
          <p:nvPr/>
        </p:nvSpPr>
        <p:spPr>
          <a:xfrm>
            <a:off x="812902" y="2286000"/>
            <a:ext cx="2514600" cy="256946"/>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RENT · PER YEAR</a:t>
            </a:r>
            <a:endParaRPr lang="en-US" sz="1250" dirty="0"/>
          </a:p>
        </p:txBody>
      </p:sp>
      <p:sp>
        <p:nvSpPr>
          <p:cNvPr id="8" name="Text 4"/>
          <p:cNvSpPr txBox="1"/>
          <p:nvPr/>
        </p:nvSpPr>
        <p:spPr>
          <a:xfrm>
            <a:off x="812902" y="2606040"/>
            <a:ext cx="2560320" cy="640080"/>
          </a:xfrm>
          <a:prstGeom prst="rect">
            <a:avLst/>
          </a:prstGeom>
          <a:noFill/>
          <a:ln/>
        </p:spPr>
        <p:txBody>
          <a:bodyPr wrap="square" lIns="0" tIns="0" rIns="0" bIns="0" rtlCol="0" anchor="t">
            <a:normAutofit/>
          </a:bodyPr>
          <a:lstStyle/>
          <a:p>
            <a:pPr algn="l" indent="0" marL="0">
              <a:lnSpc>
                <a:spcPts val="3600"/>
              </a:lnSpc>
              <a:buNone/>
            </a:pPr>
            <a:r>
              <a:rPr lang="en-US" altLang="en-US" sz="3400" b="1" dirty="0">
                <a:solidFill>
                  <a:srgbClr val="E9EBE4"/>
                </a:solidFill>
                <a:latin typeface="Domine" pitchFamily="34" charset="0"/>
                <a:ea typeface="Domine" pitchFamily="34" charset="-122"/>
                <a:cs typeface="Domine" pitchFamily="34" charset="-120"/>
              </a:rPr>
              <a:t>€992</a:t>
            </a:r>
            <a:endParaRPr lang="en-US" sz="3400" dirty="0"/>
          </a:p>
        </p:txBody>
      </p:sp>
      <p:sp>
        <p:nvSpPr>
          <p:cNvPr id="9" name="Text 5"/>
          <p:cNvSpPr txBox="1"/>
          <p:nvPr/>
        </p:nvSpPr>
        <p:spPr>
          <a:xfrm>
            <a:off x="812902" y="3337560"/>
            <a:ext cx="2468880" cy="73152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A9B6A8"/>
                </a:solidFill>
                <a:latin typeface="Nunito Sans" pitchFamily="34" charset="0"/>
                <a:ea typeface="Nunito Sans" pitchFamily="34" charset="-122"/>
                <a:cs typeface="Nunito Sans" pitchFamily="34" charset="-120"/>
              </a:rPr>
              <a:t>€843 to the owners, €149 to us</a:t>
            </a:r>
            <a:endParaRPr lang="en-US" sz="1300" dirty="0"/>
          </a:p>
        </p:txBody>
      </p:sp>
      <p:sp>
        <p:nvSpPr>
          <p:cNvPr id="10" name="Text 6"/>
          <p:cNvSpPr txBox="1"/>
          <p:nvPr/>
        </p:nvSpPr>
        <p:spPr>
          <a:xfrm>
            <a:off x="3482950" y="2286000"/>
            <a:ext cx="2514600" cy="256946"/>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RURALRIVER · 10 YEARS</a:t>
            </a:r>
            <a:endParaRPr lang="en-US" sz="1250" dirty="0"/>
          </a:p>
        </p:txBody>
      </p:sp>
      <p:sp>
        <p:nvSpPr>
          <p:cNvPr id="11" name="Text 7"/>
          <p:cNvSpPr txBox="1"/>
          <p:nvPr/>
        </p:nvSpPr>
        <p:spPr>
          <a:xfrm>
            <a:off x="3482950" y="2606040"/>
            <a:ext cx="2560320" cy="640080"/>
          </a:xfrm>
          <a:prstGeom prst="rect">
            <a:avLst/>
          </a:prstGeom>
          <a:noFill/>
          <a:ln/>
        </p:spPr>
        <p:txBody>
          <a:bodyPr wrap="square" lIns="0" tIns="0" rIns="0" bIns="0" rtlCol="0" anchor="t">
            <a:normAutofit/>
          </a:bodyPr>
          <a:lstStyle/>
          <a:p>
            <a:pPr algn="l" indent="0" marL="0">
              <a:lnSpc>
                <a:spcPts val="3600"/>
              </a:lnSpc>
              <a:buNone/>
            </a:pPr>
            <a:r>
              <a:rPr lang="en-US" altLang="en-US" sz="3400" b="1" dirty="0">
                <a:solidFill>
                  <a:srgbClr val="A7C049"/>
                </a:solidFill>
                <a:latin typeface="Domine" pitchFamily="34" charset="0"/>
                <a:ea typeface="Domine" pitchFamily="34" charset="-122"/>
                <a:cs typeface="Domine" pitchFamily="34" charset="-120"/>
              </a:rPr>
              <a:t>€8,988</a:t>
            </a:r>
            <a:endParaRPr lang="en-US" sz="3400" dirty="0"/>
          </a:p>
        </p:txBody>
      </p:sp>
      <p:sp>
        <p:nvSpPr>
          <p:cNvPr id="12" name="Text 8"/>
          <p:cNvSpPr txBox="1"/>
          <p:nvPr/>
        </p:nvSpPr>
        <p:spPr>
          <a:xfrm>
            <a:off x="3482950" y="3337560"/>
            <a:ext cx="2468880" cy="73152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A9B6A8"/>
                </a:solidFill>
                <a:latin typeface="Nunito Sans" pitchFamily="34" charset="0"/>
                <a:ea typeface="Nunito Sans" pitchFamily="34" charset="-122"/>
                <a:cs typeface="Nunito Sans" pitchFamily="34" charset="-120"/>
              </a:rPr>
              <a:t>Set-up, yearly management and 15% of the rent</a:t>
            </a:r>
            <a:endParaRPr lang="en-US" sz="1300" dirty="0"/>
          </a:p>
        </p:txBody>
      </p:sp>
      <p:sp>
        <p:nvSpPr>
          <p:cNvPr id="13" name="Text 9"/>
          <p:cNvSpPr txBox="1"/>
          <p:nvPr/>
        </p:nvSpPr>
        <p:spPr>
          <a:xfrm>
            <a:off x="6152998" y="2286000"/>
            <a:ext cx="2514600" cy="256946"/>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OWNERS · 10 YEARS</a:t>
            </a:r>
            <a:endParaRPr lang="en-US" sz="1250" dirty="0"/>
          </a:p>
        </p:txBody>
      </p:sp>
      <p:sp>
        <p:nvSpPr>
          <p:cNvPr id="14" name="Text 10"/>
          <p:cNvSpPr txBox="1"/>
          <p:nvPr/>
        </p:nvSpPr>
        <p:spPr>
          <a:xfrm>
            <a:off x="6152998" y="2606040"/>
            <a:ext cx="2560320" cy="640080"/>
          </a:xfrm>
          <a:prstGeom prst="rect">
            <a:avLst/>
          </a:prstGeom>
          <a:noFill/>
          <a:ln/>
        </p:spPr>
        <p:txBody>
          <a:bodyPr wrap="square" lIns="0" tIns="0" rIns="0" bIns="0" rtlCol="0" anchor="t">
            <a:normAutofit/>
          </a:bodyPr>
          <a:lstStyle/>
          <a:p>
            <a:pPr algn="l" indent="0" marL="0">
              <a:lnSpc>
                <a:spcPts val="3600"/>
              </a:lnSpc>
              <a:buNone/>
            </a:pPr>
            <a:r>
              <a:rPr lang="en-US" altLang="en-US" sz="3400" b="1" dirty="0">
                <a:solidFill>
                  <a:srgbClr val="E9EBE4"/>
                </a:solidFill>
                <a:latin typeface="Domine" pitchFamily="34" charset="0"/>
                <a:ea typeface="Domine" pitchFamily="34" charset="-122"/>
                <a:cs typeface="Domine" pitchFamily="34" charset="-120"/>
              </a:rPr>
              <a:t>€8,432</a:t>
            </a:r>
            <a:endParaRPr lang="en-US" sz="3400" dirty="0"/>
          </a:p>
        </p:txBody>
      </p:sp>
      <p:sp>
        <p:nvSpPr>
          <p:cNvPr id="15" name="Text 11"/>
          <p:cNvSpPr txBox="1"/>
          <p:nvPr/>
        </p:nvSpPr>
        <p:spPr>
          <a:xfrm>
            <a:off x="6152998" y="3337560"/>
            <a:ext cx="2468880" cy="73152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A9B6A8"/>
                </a:solidFill>
                <a:latin typeface="Nunito Sans" pitchFamily="34" charset="0"/>
                <a:ea typeface="Nunito Sans" pitchFamily="34" charset="-122"/>
                <a:cs typeface="Nunito Sans" pitchFamily="34" charset="-120"/>
              </a:rPr>
              <a:t>Paid every year, land stays theirs, comes back cleared</a:t>
            </a:r>
            <a:endParaRPr lang="en-US" sz="1300" dirty="0"/>
          </a:p>
        </p:txBody>
      </p:sp>
      <p:sp>
        <p:nvSpPr>
          <p:cNvPr id="16" name="Text 12"/>
          <p:cNvSpPr txBox="1"/>
          <p:nvPr/>
        </p:nvSpPr>
        <p:spPr>
          <a:xfrm>
            <a:off x="8823046" y="2286000"/>
            <a:ext cx="2514600" cy="256946"/>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LOCAL JOBS · ESTIMATE</a:t>
            </a:r>
            <a:endParaRPr lang="en-US" sz="1250" dirty="0"/>
          </a:p>
        </p:txBody>
      </p:sp>
      <p:sp>
        <p:nvSpPr>
          <p:cNvPr id="17" name="Text 13"/>
          <p:cNvSpPr txBox="1"/>
          <p:nvPr/>
        </p:nvSpPr>
        <p:spPr>
          <a:xfrm>
            <a:off x="8823046" y="2606040"/>
            <a:ext cx="2560320" cy="640080"/>
          </a:xfrm>
          <a:prstGeom prst="rect">
            <a:avLst/>
          </a:prstGeom>
          <a:noFill/>
          <a:ln/>
        </p:spPr>
        <p:txBody>
          <a:bodyPr wrap="square" lIns="0" tIns="0" rIns="0" bIns="0" rtlCol="0" anchor="t">
            <a:normAutofit/>
          </a:bodyPr>
          <a:lstStyle/>
          <a:p>
            <a:pPr algn="l" indent="0" marL="0">
              <a:lnSpc>
                <a:spcPts val="3600"/>
              </a:lnSpc>
              <a:buNone/>
            </a:pPr>
            <a:r>
              <a:rPr lang="en-US" altLang="en-US" sz="3400" b="1" dirty="0">
                <a:solidFill>
                  <a:srgbClr val="E9EBE4"/>
                </a:solidFill>
                <a:latin typeface="Domine" pitchFamily="34" charset="0"/>
                <a:ea typeface="Domine" pitchFamily="34" charset="-122"/>
                <a:cs typeface="Domine" pitchFamily="34" charset="-120"/>
              </a:rPr>
              <a:t>3.1 + 2</a:t>
            </a:r>
            <a:endParaRPr lang="en-US" sz="3400" dirty="0"/>
          </a:p>
        </p:txBody>
      </p:sp>
      <p:sp>
        <p:nvSpPr>
          <p:cNvPr id="18" name="Text 14"/>
          <p:cNvSpPr txBox="1"/>
          <p:nvPr/>
        </p:nvSpPr>
        <p:spPr>
          <a:xfrm>
            <a:off x="8823046" y="3337560"/>
            <a:ext cx="2468880" cy="731520"/>
          </a:xfrm>
          <a:prstGeom prst="rect">
            <a:avLst/>
          </a:prstGeom>
          <a:noFill/>
          <a:ln/>
        </p:spPr>
        <p:txBody>
          <a:bodyPr wrap="square" lIns="0" tIns="0" rIns="0" bIns="0" rtlCol="0" anchor="t">
            <a:normAutofit/>
          </a:bodyPr>
          <a:lstStyle/>
          <a:p>
            <a:pPr algn="l" indent="0" marL="0">
              <a:lnSpc>
                <a:spcPts val="1850"/>
              </a:lnSpc>
              <a:buNone/>
            </a:pPr>
            <a:r>
              <a:rPr lang="en-US" altLang="en-US" sz="1300" dirty="0">
                <a:solidFill>
                  <a:srgbClr val="A9B6A8"/>
                </a:solidFill>
                <a:latin typeface="Nunito Sans" pitchFamily="34" charset="0"/>
                <a:ea typeface="Nunito Sans" pitchFamily="34" charset="-122"/>
                <a:cs typeface="Nunito Sans" pitchFamily="34" charset="-120"/>
              </a:rPr>
              <a:t>Permanent and seasonal, organic vegetables on 6.2 ha</a:t>
            </a:r>
            <a:endParaRPr lang="en-US" sz="1300" dirty="0"/>
          </a:p>
        </p:txBody>
      </p:sp>
      <p:sp>
        <p:nvSpPr>
          <p:cNvPr id="19" name="Shape 15"/>
          <p:cNvSpPr/>
          <p:nvPr/>
        </p:nvSpPr>
        <p:spPr>
          <a:xfrm>
            <a:off x="812902" y="4343400"/>
            <a:ext cx="10566806" cy="0"/>
          </a:xfrm>
          <a:prstGeom prst="line">
            <a:avLst/>
          </a:prstGeom>
          <a:noFill/>
          <a:ln w="9525">
            <a:solidFill>
              <a:srgbClr val="587C6C"/>
            </a:solidFill>
            <a:prstDash val="solid"/>
          </a:ln>
        </p:spPr>
      </p:sp>
      <p:sp>
        <p:nvSpPr>
          <p:cNvPr id="20" name="Text 16"/>
          <p:cNvSpPr txBox="1"/>
          <p:nvPr/>
        </p:nvSpPr>
        <p:spPr>
          <a:xfrm>
            <a:off x="812902" y="4663440"/>
            <a:ext cx="10202875" cy="786384"/>
          </a:xfrm>
          <a:prstGeom prst="rect">
            <a:avLst/>
          </a:prstGeom>
          <a:noFill/>
          <a:ln/>
        </p:spPr>
        <p:txBody>
          <a:bodyPr wrap="square" lIns="0" tIns="0" rIns="0" bIns="0" rtlCol="0" anchor="t">
            <a:normAutofit/>
          </a:bodyPr>
          <a:lstStyle/>
          <a:p>
            <a:pPr algn="l" indent="0" marL="0">
              <a:lnSpc>
                <a:spcPts val="2900"/>
              </a:lnSpc>
              <a:buNone/>
            </a:pPr>
            <a:r>
              <a:rPr lang="en-US" altLang="en-US" sz="2200" b="1" dirty="0">
                <a:solidFill>
                  <a:srgbClr val="E9EBE4"/>
                </a:solidFill>
                <a:latin typeface="Domine" pitchFamily="34" charset="0"/>
                <a:ea typeface="Domine" pitchFamily="34" charset="-122"/>
                <a:cs typeface="Domine" pitchFamily="34" charset="-120"/>
              </a:rPr>
              <a:t>A guest pays once. A project pays every year, for as long as the law lets it stay: five years minimum, renewed by five.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5</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Eight lines, and their margins</a:t>
            </a:r>
            <a:endParaRPr lang="en-US" sz="3000" dirty="0"/>
          </a:p>
        </p:txBody>
      </p:sp>
      <p:sp>
        <p:nvSpPr>
          <p:cNvPr id="4" name="Text 2"/>
          <p:cNvSpPr txBox="1"/>
          <p:nvPr/>
        </p:nvSpPr>
        <p:spPr>
          <a:xfrm>
            <a:off x="812902" y="6238037"/>
            <a:ext cx="82296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All volumes are our estimates · move the sliders at /business to test any of them</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2902" y="2011680"/>
          <a:ext cx="10566806" cy="914400"/>
        </p:xfrm>
        <a:graphic>
          <a:graphicData uri="http://schemas.openxmlformats.org/drawingml/2006/table">
            <a:tbl>
              <a:tblPr/>
              <a:tblGrid>
                <a:gridCol w="4023360"/>
                <a:gridCol w="1737360"/>
                <a:gridCol w="1371600"/>
                <a:gridCol w="1737360"/>
                <a:gridCol w="1697126"/>
              </a:tblGrid>
              <a:tr h="347472">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LINE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VOLUME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PRICE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REVENUE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MARGIN</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1-week packages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150 people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€220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€33,000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64%</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1-month packages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20 people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€450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€9,000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67%</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3-month packages (a season here)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8 people</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€900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€7,200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67%</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Own house (whole-house lets)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100 nights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€110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€11,000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77%</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15% on villagers' houses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40 €k booked</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€150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€6,000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Private events on villagers' land</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25 events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€2,000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€50,000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32%</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Agricultural project set-ups (multi-year leases)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10 projects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€1,500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€15,000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80%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dirty="0">
                          <a:solidFill>
                            <a:srgbClr val="59605A"/>
                          </a:solidFill>
                          <a:latin typeface="Nunito Sans" pitchFamily="34" charset="0"/>
                          <a:ea typeface="Nunito Sans" pitchFamily="34" charset="-122"/>
                          <a:cs typeface="Nunito Sans" pitchFamily="34" charset="-120"/>
                        </a:rPr>
                        <a:t>Land management + 15% rent commission</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10 projects</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€800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€8,000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dirty="0">
                          <a:solidFill>
                            <a:srgbClr val="59605A"/>
                          </a:solidFill>
                          <a:latin typeface="Nunito Sans" pitchFamily="34" charset="0"/>
                          <a:ea typeface="Nunito Sans" pitchFamily="34" charset="-122"/>
                          <a:cs typeface="Nunito Sans" pitchFamily="34" charset="-120"/>
                        </a:rPr>
                        <a:t>90%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47472">
                <a:tc>
                  <a:txBody>
                    <a:bodyPr/>
                    <a:lstStyle/>
                    <a:p>
                      <a:pPr algn="l" indent="0" marL="0">
                        <a:buNone/>
                      </a:pPr>
                      <a:r>
                        <a:rPr lang="en-US" sz="1300" b="1" dirty="0">
                          <a:solidFill>
                            <a:srgbClr val="0E1310"/>
                          </a:solidFill>
                          <a:latin typeface="Nunito Sans" pitchFamily="34" charset="0"/>
                          <a:ea typeface="Nunito Sans" pitchFamily="34" charset="-122"/>
                          <a:cs typeface="Nunito Sans" pitchFamily="34" charset="-120"/>
                        </a:rPr>
                        <a:t>Total</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b="1" dirty="0">
                          <a:solidFill>
                            <a:srgbClr val="0E1310"/>
                          </a:solidFill>
                          <a:latin typeface="Nunito Sans" pitchFamily="34" charset="0"/>
                          <a:ea typeface="Nunito Sans" pitchFamily="34" charset="-122"/>
                          <a:cs typeface="Nunito Sans" pitchFamily="34" charset="-120"/>
                        </a:rPr>
                        <a:t>€139,200</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300" b="1" dirty="0">
                          <a:solidFill>
                            <a:srgbClr val="0E1310"/>
                          </a:solidFill>
                          <a:latin typeface="Nunito Sans" pitchFamily="34" charset="0"/>
                          <a:ea typeface="Nunito Sans" pitchFamily="34" charset="-122"/>
                          <a:cs typeface="Nunito Sans" pitchFamily="34" charset="-120"/>
                        </a:rPr>
                        <a:t>59%</a:t>
                      </a:r>
                      <a:endParaRPr lang="en-US" sz="13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6</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Year 1, line by line</a:t>
            </a:r>
            <a:endParaRPr lang="en-US" sz="3000" dirty="0"/>
          </a:p>
        </p:txBody>
      </p:sp>
      <p:sp>
        <p:nvSpPr>
          <p:cNvPr id="4" name="Text 2"/>
          <p:cNvSpPr txBox="1"/>
          <p:nvPr/>
        </p:nvSpPr>
        <p:spPr>
          <a:xfrm>
            <a:off x="812902" y="6238037"/>
            <a:ext cx="91440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App built in-house, so no development cost · before founder pay · loan: €20,000 at 7% over 12 months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902" y="2011680"/>
          <a:ext cx="5120640" cy="914400"/>
        </p:xfrm>
        <a:graphic>
          <a:graphicData uri="http://schemas.openxmlformats.org/drawingml/2006/table">
            <a:tbl>
              <a:tblPr/>
              <a:tblGrid>
                <a:gridCol w="3840480"/>
                <a:gridCol w="1280160"/>
              </a:tblGrid>
              <a:tr h="310896">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REVENUE</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AMOUNT</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1-week packages</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€33,000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1-month packages</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€9,000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3-month packages (a season here)</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€7,200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Own house (whole-house lets)</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€11,000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15% on villagers' houses</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€6,000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Private events on villagers' land</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€50,000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Agricultural project set-ups (multi-year leases)</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€15,000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dirty="0">
                          <a:solidFill>
                            <a:srgbClr val="59605A"/>
                          </a:solidFill>
                          <a:latin typeface="Nunito Sans" pitchFamily="34" charset="0"/>
                          <a:ea typeface="Nunito Sans" pitchFamily="34" charset="-122"/>
                          <a:cs typeface="Nunito Sans" pitchFamily="34" charset="-120"/>
                        </a:rPr>
                        <a:t>Land management + 15% rent commission</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dirty="0">
                          <a:solidFill>
                            <a:srgbClr val="59605A"/>
                          </a:solidFill>
                          <a:latin typeface="Nunito Sans" pitchFamily="34" charset="0"/>
                          <a:ea typeface="Nunito Sans" pitchFamily="34" charset="-122"/>
                          <a:cs typeface="Nunito Sans" pitchFamily="34" charset="-120"/>
                        </a:rPr>
                        <a:t>€8,000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310896">
                <a:tc>
                  <a:txBody>
                    <a:bodyPr/>
                    <a:lstStyle/>
                    <a:p>
                      <a:pPr algn="l" indent="0" marL="0">
                        <a:buNone/>
                      </a:pPr>
                      <a:r>
                        <a:rPr lang="en-US" sz="1200" b="1" dirty="0">
                          <a:solidFill>
                            <a:srgbClr val="0E1310"/>
                          </a:solidFill>
                          <a:latin typeface="Nunito Sans" pitchFamily="34" charset="0"/>
                          <a:ea typeface="Nunito Sans" pitchFamily="34" charset="-122"/>
                          <a:cs typeface="Nunito Sans" pitchFamily="34" charset="-120"/>
                        </a:rPr>
                        <a:t>Total</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200" b="1" dirty="0">
                          <a:solidFill>
                            <a:srgbClr val="0E1310"/>
                          </a:solidFill>
                          <a:latin typeface="Nunito Sans" pitchFamily="34" charset="0"/>
                          <a:ea typeface="Nunito Sans" pitchFamily="34" charset="-122"/>
                          <a:cs typeface="Nunito Sans" pitchFamily="34" charset="-120"/>
                        </a:rPr>
                        <a:t>€139,200</a:t>
                      </a:r>
                      <a:endParaRPr lang="en-US" sz="12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263640" y="2011680"/>
          <a:ext cx="5115154" cy="914400"/>
        </p:xfrm>
        <a:graphic>
          <a:graphicData uri="http://schemas.openxmlformats.org/drawingml/2006/table">
            <a:tbl>
              <a:tblPr/>
              <a:tblGrid>
                <a:gridCol w="3840480"/>
                <a:gridCol w="1274674"/>
              </a:tblGrid>
              <a:tr h="274320">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COSTS</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050" b="1" spc="100" kern="0" dirty="0">
                          <a:solidFill>
                            <a:srgbClr val="878E84"/>
                          </a:solidFill>
                          <a:latin typeface="Nunito Sans" pitchFamily="34" charset="0"/>
                          <a:ea typeface="Nunito Sans" pitchFamily="34" charset="-122"/>
                          <a:cs typeface="Nunito Sans" pitchFamily="34" charset="-120"/>
                        </a:rPr>
                        <a:t>AMOUNT</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Direct costs (guides, suppliers, cleaning, pass-through)</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€57,700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Marketing</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€3,000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Owner outreach</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€1,000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Insurance, registrations, gestor</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€2,500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AI concierge + website</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€1,500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Car, fuel, maintenance</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€2,500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Self-employed social security (€80/month flat rate, year 1)</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€960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Contingency</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€1,500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House refit (capex)</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€8,000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Event kit (capex)</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€1,500</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dirty="0">
                          <a:solidFill>
                            <a:srgbClr val="59605A"/>
                          </a:solidFill>
                          <a:latin typeface="Nunito Sans" pitchFamily="34" charset="0"/>
                          <a:ea typeface="Nunito Sans" pitchFamily="34" charset="-122"/>
                          <a:cs typeface="Nunito Sans" pitchFamily="34" charset="-120"/>
                        </a:rPr>
                        <a:t>Loan interest</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dirty="0">
                          <a:solidFill>
                            <a:srgbClr val="59605A"/>
                          </a:solidFill>
                          <a:latin typeface="Nunito Sans" pitchFamily="34" charset="0"/>
                          <a:ea typeface="Nunito Sans" pitchFamily="34" charset="-122"/>
                          <a:cs typeface="Nunito Sans" pitchFamily="34" charset="-120"/>
                        </a:rPr>
                        <a:t>€766</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274320">
                <a:tc>
                  <a:txBody>
                    <a:bodyPr/>
                    <a:lstStyle/>
                    <a:p>
                      <a:pPr algn="l" indent="0" marL="0">
                        <a:buNone/>
                      </a:pPr>
                      <a:r>
                        <a:rPr lang="en-US" sz="1150" b="1" dirty="0">
                          <a:solidFill>
                            <a:srgbClr val="0E1310"/>
                          </a:solidFill>
                          <a:latin typeface="Nunito Sans" pitchFamily="34" charset="0"/>
                          <a:ea typeface="Nunito Sans" pitchFamily="34" charset="-122"/>
                          <a:cs typeface="Nunito Sans" pitchFamily="34" charset="-120"/>
                        </a:rPr>
                        <a:t>Total</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r" indent="0" marL="0">
                        <a:buNone/>
                      </a:pPr>
                      <a:r>
                        <a:rPr lang="en-US" sz="1150" b="1" dirty="0">
                          <a:solidFill>
                            <a:srgbClr val="0E1310"/>
                          </a:solidFill>
                          <a:latin typeface="Nunito Sans" pitchFamily="34" charset="0"/>
                          <a:ea typeface="Nunito Sans" pitchFamily="34" charset="-122"/>
                          <a:cs typeface="Nunito Sans" pitchFamily="34" charset="-120"/>
                        </a:rPr>
                        <a:t>€80,926</a:t>
                      </a:r>
                      <a:endParaRPr lang="en-US" sz="11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bl>
          </a:graphicData>
        </a:graphic>
      </p:graphicFrame>
      <p:sp>
        <p:nvSpPr>
          <p:cNvPr id="9" name="Text 3"/>
          <p:cNvSpPr txBox="1"/>
          <p:nvPr/>
        </p:nvSpPr>
        <p:spPr>
          <a:xfrm>
            <a:off x="812902" y="5440680"/>
            <a:ext cx="320040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PROFIT</a:t>
            </a:r>
            <a:endParaRPr lang="en-US" sz="1250" dirty="0"/>
          </a:p>
        </p:txBody>
      </p:sp>
      <p:sp>
        <p:nvSpPr>
          <p:cNvPr id="10" name="Text 4"/>
          <p:cNvSpPr txBox="1"/>
          <p:nvPr/>
        </p:nvSpPr>
        <p:spPr>
          <a:xfrm>
            <a:off x="812902" y="5687568"/>
            <a:ext cx="3200400" cy="457200"/>
          </a:xfrm>
          <a:prstGeom prst="rect">
            <a:avLst/>
          </a:prstGeom>
          <a:noFill/>
          <a:ln/>
        </p:spPr>
        <p:txBody>
          <a:bodyPr wrap="square" lIns="0" tIns="0" rIns="0" bIns="0" rtlCol="0" anchor="t">
            <a:normAutofit/>
          </a:bodyPr>
          <a:lstStyle/>
          <a:p>
            <a:pPr algn="l" indent="0" marL="0">
              <a:lnSpc>
                <a:spcPts val="3000"/>
              </a:lnSpc>
              <a:buNone/>
            </a:pPr>
            <a:r>
              <a:rPr lang="en-US" altLang="en-US" sz="2400" b="1" dirty="0">
                <a:solidFill>
                  <a:srgbClr val="6F8A18"/>
                </a:solidFill>
                <a:latin typeface="Domine" pitchFamily="34" charset="0"/>
                <a:ea typeface="Domine" pitchFamily="34" charset="-122"/>
                <a:cs typeface="Domine" pitchFamily="34" charset="-120"/>
              </a:rPr>
              <a:t>€58,274</a:t>
            </a:r>
            <a:endParaRPr lang="en-US" sz="2400" dirty="0"/>
          </a:p>
        </p:txBody>
      </p:sp>
      <p:sp>
        <p:nvSpPr>
          <p:cNvPr id="11" name="Text 5"/>
          <p:cNvSpPr txBox="1"/>
          <p:nvPr/>
        </p:nvSpPr>
        <p:spPr>
          <a:xfrm>
            <a:off x="4379062" y="5440680"/>
            <a:ext cx="320040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CASH AT MONTH 12</a:t>
            </a:r>
            <a:endParaRPr lang="en-US" sz="1250" dirty="0"/>
          </a:p>
        </p:txBody>
      </p:sp>
      <p:sp>
        <p:nvSpPr>
          <p:cNvPr id="12" name="Text 6"/>
          <p:cNvSpPr txBox="1"/>
          <p:nvPr/>
        </p:nvSpPr>
        <p:spPr>
          <a:xfrm>
            <a:off x="4379062" y="5687568"/>
            <a:ext cx="3200400" cy="457200"/>
          </a:xfrm>
          <a:prstGeom prst="rect">
            <a:avLst/>
          </a:prstGeom>
          <a:noFill/>
          <a:ln/>
        </p:spPr>
        <p:txBody>
          <a:bodyPr wrap="square" lIns="0" tIns="0" rIns="0" bIns="0" rtlCol="0" anchor="t">
            <a:normAutofit/>
          </a:bodyPr>
          <a:lstStyle/>
          <a:p>
            <a:pPr algn="l" indent="0" marL="0">
              <a:lnSpc>
                <a:spcPts val="3000"/>
              </a:lnSpc>
              <a:buNone/>
            </a:pPr>
            <a:r>
              <a:rPr lang="en-US" altLang="en-US" sz="2400" b="1" dirty="0">
                <a:solidFill>
                  <a:srgbClr val="0E1310"/>
                </a:solidFill>
                <a:latin typeface="Domine" pitchFamily="34" charset="0"/>
                <a:ea typeface="Domine" pitchFamily="34" charset="-122"/>
                <a:cs typeface="Domine" pitchFamily="34" charset="-120"/>
              </a:rPr>
              <a:t>€63,274</a:t>
            </a:r>
            <a:endParaRPr lang="en-US" sz="2400" dirty="0"/>
          </a:p>
        </p:txBody>
      </p:sp>
      <p:sp>
        <p:nvSpPr>
          <p:cNvPr id="13" name="Text 7"/>
          <p:cNvSpPr txBox="1"/>
          <p:nvPr/>
        </p:nvSpPr>
        <p:spPr>
          <a:xfrm>
            <a:off x="7945222" y="5440680"/>
            <a:ext cx="3200400" cy="246888"/>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78E84"/>
                </a:solidFill>
                <a:latin typeface="Nunito Sans" pitchFamily="34" charset="0"/>
                <a:ea typeface="Nunito Sans" pitchFamily="34" charset="-122"/>
                <a:cs typeface="Nunito Sans" pitchFamily="34" charset="-120"/>
              </a:rPr>
              <a:t>NET MARGIN</a:t>
            </a:r>
            <a:endParaRPr lang="en-US" sz="1250" dirty="0"/>
          </a:p>
        </p:txBody>
      </p:sp>
      <p:sp>
        <p:nvSpPr>
          <p:cNvPr id="14" name="Text 8"/>
          <p:cNvSpPr txBox="1"/>
          <p:nvPr/>
        </p:nvSpPr>
        <p:spPr>
          <a:xfrm>
            <a:off x="7945222" y="5687568"/>
            <a:ext cx="3200400" cy="457200"/>
          </a:xfrm>
          <a:prstGeom prst="rect">
            <a:avLst/>
          </a:prstGeom>
          <a:noFill/>
          <a:ln/>
        </p:spPr>
        <p:txBody>
          <a:bodyPr wrap="square" lIns="0" tIns="0" rIns="0" bIns="0" rtlCol="0" anchor="t">
            <a:normAutofit/>
          </a:bodyPr>
          <a:lstStyle/>
          <a:p>
            <a:pPr algn="l" indent="0" marL="0">
              <a:lnSpc>
                <a:spcPts val="3000"/>
              </a:lnSpc>
              <a:buNone/>
            </a:pPr>
            <a:r>
              <a:rPr lang="en-US" altLang="en-US" sz="2400" b="1" dirty="0">
                <a:solidFill>
                  <a:srgbClr val="0E1310"/>
                </a:solidFill>
                <a:latin typeface="Domine" pitchFamily="34" charset="0"/>
                <a:ea typeface="Domine" pitchFamily="34" charset="-122"/>
                <a:cs typeface="Domine" pitchFamily="34" charset="-120"/>
              </a:rPr>
              <a:t>42%</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BACKUP 7</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E9EBE4"/>
                </a:solidFill>
                <a:latin typeface="Domine" pitchFamily="34" charset="0"/>
                <a:ea typeface="Domine" pitchFamily="34" charset="-122"/>
                <a:cs typeface="Domine" pitchFamily="34" charset="-120"/>
              </a:rPr>
              <a:t>What has to be true, and what happens if it isn't.</a:t>
            </a:r>
            <a:endParaRPr lang="en-US" sz="3000" dirty="0"/>
          </a:p>
        </p:txBody>
      </p:sp>
      <p:sp>
        <p:nvSpPr>
          <p:cNvPr id="4" name="Text 2"/>
          <p:cNvSpPr txBox="1"/>
          <p:nvPr/>
        </p:nvSpPr>
        <p:spPr>
          <a:xfrm>
            <a:off x="812902" y="6238037"/>
            <a:ext cx="73152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All three downside cases still repay the loan in full</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174443"/>
            <a:ext cx="3411626" cy="1911096"/>
          </a:xfrm>
          <a:prstGeom prst="roundRect">
            <a:avLst>
              <a:gd name="adj" fmla="val 5981"/>
            </a:avLst>
          </a:prstGeom>
          <a:solidFill>
            <a:srgbClr val="2F5D4A"/>
          </a:solidFill>
          <a:ln w="12700">
            <a:solidFill>
              <a:srgbClr val="2F5D4A"/>
            </a:solidFill>
            <a:prstDash val="solid"/>
          </a:ln>
        </p:spPr>
      </p:sp>
      <p:pic>
        <p:nvPicPr>
          <p:cNvPr id="8" name="Image 1" descr="preencoded.png">    </p:cNvPr>
          <p:cNvPicPr>
            <a:picLocks noChangeAspect="1"/>
          </p:cNvPicPr>
          <p:nvPr/>
        </p:nvPicPr>
        <p:blipFill>
          <a:blip r:embed="rId2"/>
          <a:stretch>
            <a:fillRect/>
          </a:stretch>
        </p:blipFill>
        <p:spPr>
          <a:xfrm>
            <a:off x="1028700" y="2403043"/>
            <a:ext cx="304495" cy="304495"/>
          </a:xfrm>
          <a:prstGeom prst="rect">
            <a:avLst/>
          </a:prstGeom>
        </p:spPr>
      </p:pic>
      <p:sp>
        <p:nvSpPr>
          <p:cNvPr id="9" name="Text 4"/>
          <p:cNvSpPr txBox="1"/>
          <p:nvPr/>
        </p:nvSpPr>
        <p:spPr>
          <a:xfrm>
            <a:off x="1028700" y="2796235"/>
            <a:ext cx="2981858" cy="484632"/>
          </a:xfrm>
          <a:prstGeom prst="rect">
            <a:avLst/>
          </a:prstGeom>
          <a:noFill/>
          <a:ln/>
        </p:spPr>
        <p:txBody>
          <a:bodyPr wrap="square" lIns="0" tIns="0" rIns="0" bIns="0" rtlCol="0" anchor="t">
            <a:normAutofit/>
          </a:bodyPr>
          <a:lstStyle/>
          <a:p>
            <a:pPr algn="l" indent="0" marL="0">
              <a:lnSpc>
                <a:spcPts val="3600"/>
              </a:lnSpc>
              <a:buNone/>
            </a:pPr>
            <a:r>
              <a:rPr lang="en-US" altLang="en-US" sz="3600" b="1" dirty="0">
                <a:solidFill>
                  <a:srgbClr val="A7C049"/>
                </a:solidFill>
                <a:latin typeface="Domine" pitchFamily="34" charset="0"/>
                <a:ea typeface="Domine" pitchFamily="34" charset="-122"/>
                <a:cs typeface="Domine" pitchFamily="34" charset="-120"/>
              </a:rPr>
              <a:t>150</a:t>
            </a:r>
            <a:endParaRPr lang="en-US" sz="3600" dirty="0"/>
          </a:p>
        </p:txBody>
      </p:sp>
      <p:sp>
        <p:nvSpPr>
          <p:cNvPr id="10" name="Text 5"/>
          <p:cNvSpPr txBox="1"/>
          <p:nvPr/>
        </p:nvSpPr>
        <p:spPr>
          <a:xfrm>
            <a:off x="1028700" y="3344875"/>
            <a:ext cx="2981858" cy="54864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week-long guests, the busiest line and the easiest to sell</a:t>
            </a:r>
            <a:endParaRPr lang="en-US" sz="1400" dirty="0"/>
          </a:p>
        </p:txBody>
      </p:sp>
      <p:sp>
        <p:nvSpPr>
          <p:cNvPr id="11" name="Shape 6"/>
          <p:cNvSpPr/>
          <p:nvPr/>
        </p:nvSpPr>
        <p:spPr>
          <a:xfrm>
            <a:off x="4390034" y="2174443"/>
            <a:ext cx="3411626" cy="1911096"/>
          </a:xfrm>
          <a:prstGeom prst="roundRect">
            <a:avLst>
              <a:gd name="adj" fmla="val 5981"/>
            </a:avLst>
          </a:prstGeom>
          <a:solidFill>
            <a:srgbClr val="2F5D4A"/>
          </a:solidFill>
          <a:ln w="12700">
            <a:solidFill>
              <a:srgbClr val="2F5D4A"/>
            </a:solidFill>
            <a:prstDash val="solid"/>
          </a:ln>
        </p:spPr>
      </p:sp>
      <p:pic>
        <p:nvPicPr>
          <p:cNvPr id="12" name="Image 2" descr="preencoded.png">    </p:cNvPr>
          <p:cNvPicPr>
            <a:picLocks noChangeAspect="1"/>
          </p:cNvPicPr>
          <p:nvPr/>
        </p:nvPicPr>
        <p:blipFill>
          <a:blip r:embed="rId3"/>
          <a:stretch>
            <a:fillRect/>
          </a:stretch>
        </p:blipFill>
        <p:spPr>
          <a:xfrm>
            <a:off x="4605833" y="2403043"/>
            <a:ext cx="304495" cy="304495"/>
          </a:xfrm>
          <a:prstGeom prst="rect">
            <a:avLst/>
          </a:prstGeom>
        </p:spPr>
      </p:pic>
      <p:sp>
        <p:nvSpPr>
          <p:cNvPr id="13" name="Text 7"/>
          <p:cNvSpPr txBox="1"/>
          <p:nvPr/>
        </p:nvSpPr>
        <p:spPr>
          <a:xfrm>
            <a:off x="4605833" y="2796235"/>
            <a:ext cx="2981858" cy="484632"/>
          </a:xfrm>
          <a:prstGeom prst="rect">
            <a:avLst/>
          </a:prstGeom>
          <a:noFill/>
          <a:ln/>
        </p:spPr>
        <p:txBody>
          <a:bodyPr wrap="square" lIns="0" tIns="0" rIns="0" bIns="0" rtlCol="0" anchor="t">
            <a:normAutofit/>
          </a:bodyPr>
          <a:lstStyle/>
          <a:p>
            <a:pPr algn="l" indent="0" marL="0">
              <a:lnSpc>
                <a:spcPts val="3600"/>
              </a:lnSpc>
              <a:buNone/>
            </a:pPr>
            <a:r>
              <a:rPr lang="en-US" altLang="en-US" sz="3600" b="1" dirty="0">
                <a:solidFill>
                  <a:srgbClr val="A7C049"/>
                </a:solidFill>
                <a:latin typeface="Domine" pitchFamily="34" charset="0"/>
                <a:ea typeface="Domine" pitchFamily="34" charset="-122"/>
                <a:cs typeface="Domine" pitchFamily="34" charset="-120"/>
              </a:rPr>
              <a:t>25</a:t>
            </a:r>
            <a:endParaRPr lang="en-US" sz="3600" dirty="0"/>
          </a:p>
        </p:txBody>
      </p:sp>
      <p:sp>
        <p:nvSpPr>
          <p:cNvPr id="14" name="Text 8"/>
          <p:cNvSpPr txBox="1"/>
          <p:nvPr/>
        </p:nvSpPr>
        <p:spPr>
          <a:xfrm>
            <a:off x="4605833" y="3344875"/>
            <a:ext cx="2981858" cy="54864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private events on villagers' land, most of them May to September</a:t>
            </a:r>
            <a:endParaRPr lang="en-US" sz="1400" dirty="0"/>
          </a:p>
        </p:txBody>
      </p:sp>
      <p:sp>
        <p:nvSpPr>
          <p:cNvPr id="15" name="Shape 9"/>
          <p:cNvSpPr/>
          <p:nvPr/>
        </p:nvSpPr>
        <p:spPr>
          <a:xfrm>
            <a:off x="7967167" y="2174443"/>
            <a:ext cx="3411626" cy="1911096"/>
          </a:xfrm>
          <a:prstGeom prst="roundRect">
            <a:avLst>
              <a:gd name="adj" fmla="val 5981"/>
            </a:avLst>
          </a:prstGeom>
          <a:solidFill>
            <a:srgbClr val="2F5D4A"/>
          </a:solidFill>
          <a:ln w="12700">
            <a:solidFill>
              <a:srgbClr val="2F5D4A"/>
            </a:solidFill>
            <a:prstDash val="solid"/>
          </a:ln>
        </p:spPr>
      </p:sp>
      <p:pic>
        <p:nvPicPr>
          <p:cNvPr id="16" name="Image 3" descr="preencoded.png">    </p:cNvPr>
          <p:cNvPicPr>
            <a:picLocks noChangeAspect="1"/>
          </p:cNvPicPr>
          <p:nvPr/>
        </p:nvPicPr>
        <p:blipFill>
          <a:blip r:embed="rId4"/>
          <a:stretch>
            <a:fillRect/>
          </a:stretch>
        </p:blipFill>
        <p:spPr>
          <a:xfrm>
            <a:off x="8182966" y="2403043"/>
            <a:ext cx="304495" cy="304495"/>
          </a:xfrm>
          <a:prstGeom prst="rect">
            <a:avLst/>
          </a:prstGeom>
        </p:spPr>
      </p:pic>
      <p:sp>
        <p:nvSpPr>
          <p:cNvPr id="17" name="Text 10"/>
          <p:cNvSpPr txBox="1"/>
          <p:nvPr/>
        </p:nvSpPr>
        <p:spPr>
          <a:xfrm>
            <a:off x="8182966" y="2796235"/>
            <a:ext cx="2981858" cy="484632"/>
          </a:xfrm>
          <a:prstGeom prst="rect">
            <a:avLst/>
          </a:prstGeom>
          <a:noFill/>
          <a:ln/>
        </p:spPr>
        <p:txBody>
          <a:bodyPr wrap="square" lIns="0" tIns="0" rIns="0" bIns="0" rtlCol="0" anchor="t">
            <a:normAutofit/>
          </a:bodyPr>
          <a:lstStyle/>
          <a:p>
            <a:pPr algn="l" indent="0" marL="0">
              <a:lnSpc>
                <a:spcPts val="3600"/>
              </a:lnSpc>
              <a:buNone/>
            </a:pPr>
            <a:r>
              <a:rPr lang="en-US" altLang="en-US" sz="3600" b="1" dirty="0">
                <a:solidFill>
                  <a:srgbClr val="A7C049"/>
                </a:solidFill>
                <a:latin typeface="Domine" pitchFamily="34" charset="0"/>
                <a:ea typeface="Domine" pitchFamily="34" charset="-122"/>
                <a:cs typeface="Domine" pitchFamily="34" charset="-120"/>
              </a:rPr>
              <a:t>10</a:t>
            </a:r>
            <a:endParaRPr lang="en-US" sz="3600" dirty="0"/>
          </a:p>
        </p:txBody>
      </p:sp>
      <p:sp>
        <p:nvSpPr>
          <p:cNvPr id="18" name="Text 11"/>
          <p:cNvSpPr txBox="1"/>
          <p:nvPr/>
        </p:nvSpPr>
        <p:spPr>
          <a:xfrm>
            <a:off x="8182966" y="3344875"/>
            <a:ext cx="2981858" cy="54864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A9B6A8"/>
                </a:solidFill>
                <a:latin typeface="Nunito Sans" pitchFamily="34" charset="0"/>
                <a:ea typeface="Nunito Sans" pitchFamily="34" charset="-122"/>
                <a:cs typeface="Nunito Sans" pitchFamily="34" charset="-120"/>
              </a:rPr>
              <a:t>agricultural projects signed on multi-year leases</a:t>
            </a:r>
            <a:endParaRPr lang="en-US" sz="1400" dirty="0"/>
          </a:p>
        </p:txBody>
      </p:sp>
      <p:sp>
        <p:nvSpPr>
          <p:cNvPr id="19" name="Shape 12"/>
          <p:cNvSpPr/>
          <p:nvPr/>
        </p:nvSpPr>
        <p:spPr>
          <a:xfrm>
            <a:off x="812902" y="4652467"/>
            <a:ext cx="10566806" cy="0"/>
          </a:xfrm>
          <a:prstGeom prst="line">
            <a:avLst/>
          </a:prstGeom>
          <a:noFill/>
          <a:ln w="9525">
            <a:solidFill>
              <a:srgbClr val="587C6C"/>
            </a:solidFill>
            <a:prstDash val="solid"/>
          </a:ln>
        </p:spPr>
      </p:sp>
      <p:pic>
        <p:nvPicPr>
          <p:cNvPr id="20" name="Image 4" descr="preencoded.png">    </p:cNvPr>
          <p:cNvPicPr>
            <a:picLocks noChangeAspect="1"/>
          </p:cNvPicPr>
          <p:nvPr/>
        </p:nvPicPr>
        <p:blipFill>
          <a:blip r:embed="rId5"/>
          <a:stretch>
            <a:fillRect/>
          </a:stretch>
        </p:blipFill>
        <p:spPr>
          <a:xfrm>
            <a:off x="812902" y="5394960"/>
            <a:ext cx="279806" cy="279806"/>
          </a:xfrm>
          <a:prstGeom prst="rect">
            <a:avLst/>
          </a:prstGeom>
        </p:spPr>
      </p:pic>
      <p:sp>
        <p:nvSpPr>
          <p:cNvPr id="21" name="Text 13"/>
          <p:cNvSpPr txBox="1"/>
          <p:nvPr/>
        </p:nvSpPr>
        <p:spPr>
          <a:xfrm>
            <a:off x="1215238" y="5228539"/>
            <a:ext cx="3108960"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IF EVERY VOLUME HALVES</a:t>
            </a:r>
            <a:endParaRPr lang="en-US" sz="1250" dirty="0"/>
          </a:p>
        </p:txBody>
      </p:sp>
      <p:sp>
        <p:nvSpPr>
          <p:cNvPr id="22" name="Text 14"/>
          <p:cNvSpPr txBox="1"/>
          <p:nvPr/>
        </p:nvSpPr>
        <p:spPr>
          <a:xfrm>
            <a:off x="1215238" y="5450738"/>
            <a:ext cx="3108960" cy="416966"/>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€17,844 profit</a:t>
            </a:r>
            <a:endParaRPr lang="en-US" sz="1900" dirty="0"/>
          </a:p>
        </p:txBody>
      </p:sp>
      <p:pic>
        <p:nvPicPr>
          <p:cNvPr id="23" name="Image 5" descr="preencoded.png">    </p:cNvPr>
          <p:cNvPicPr>
            <a:picLocks noChangeAspect="1"/>
          </p:cNvPicPr>
          <p:nvPr/>
        </p:nvPicPr>
        <p:blipFill>
          <a:blip r:embed="rId6"/>
          <a:stretch>
            <a:fillRect/>
          </a:stretch>
        </p:blipFill>
        <p:spPr>
          <a:xfrm>
            <a:off x="4390034" y="5394960"/>
            <a:ext cx="279806" cy="279806"/>
          </a:xfrm>
          <a:prstGeom prst="rect">
            <a:avLst/>
          </a:prstGeom>
        </p:spPr>
      </p:pic>
      <p:sp>
        <p:nvSpPr>
          <p:cNvPr id="24" name="Text 15"/>
          <p:cNvSpPr txBox="1"/>
          <p:nvPr/>
        </p:nvSpPr>
        <p:spPr>
          <a:xfrm>
            <a:off x="4792370" y="5228539"/>
            <a:ext cx="3108960"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IF NO EVENTS AT ALL</a:t>
            </a:r>
            <a:endParaRPr lang="en-US" sz="1250" dirty="0"/>
          </a:p>
        </p:txBody>
      </p:sp>
      <p:sp>
        <p:nvSpPr>
          <p:cNvPr id="25" name="Text 16"/>
          <p:cNvSpPr txBox="1"/>
          <p:nvPr/>
        </p:nvSpPr>
        <p:spPr>
          <a:xfrm>
            <a:off x="4792370" y="5450738"/>
            <a:ext cx="3108960" cy="416966"/>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€42,274 profit</a:t>
            </a:r>
            <a:endParaRPr lang="en-US" sz="1900" dirty="0"/>
          </a:p>
        </p:txBody>
      </p:sp>
      <p:pic>
        <p:nvPicPr>
          <p:cNvPr id="26" name="Image 6" descr="preencoded.png">    </p:cNvPr>
          <p:cNvPicPr>
            <a:picLocks noChangeAspect="1"/>
          </p:cNvPicPr>
          <p:nvPr/>
        </p:nvPicPr>
        <p:blipFill>
          <a:blip r:embed="rId7"/>
          <a:stretch>
            <a:fillRect/>
          </a:stretch>
        </p:blipFill>
        <p:spPr>
          <a:xfrm>
            <a:off x="7967167" y="5394960"/>
            <a:ext cx="279806" cy="279806"/>
          </a:xfrm>
          <a:prstGeom prst="rect">
            <a:avLst/>
          </a:prstGeom>
        </p:spPr>
      </p:pic>
      <p:sp>
        <p:nvSpPr>
          <p:cNvPr id="27" name="Text 17"/>
          <p:cNvSpPr txBox="1"/>
          <p:nvPr/>
        </p:nvSpPr>
        <p:spPr>
          <a:xfrm>
            <a:off x="8369503" y="5228539"/>
            <a:ext cx="3108960" cy="247802"/>
          </a:xfrm>
          <a:prstGeom prst="rect">
            <a:avLst/>
          </a:prstGeom>
          <a:noFill/>
          <a:ln/>
        </p:spPr>
        <p:txBody>
          <a:bodyPr wrap="square" lIns="0" tIns="0" rIns="0" bIns="0" rtlCol="0" anchor="t">
            <a:normAutofit/>
          </a:bodyPr>
          <a:lstStyle/>
          <a:p>
            <a:pPr algn="l" indent="0" marL="0">
              <a:lnSpc>
                <a:spcPts val="1750"/>
              </a:lnSpc>
              <a:buNone/>
            </a:pPr>
            <a:r>
              <a:rPr lang="en-US" altLang="en-US" sz="1250" b="1" spc="100" kern="0" dirty="0">
                <a:solidFill>
                  <a:srgbClr val="8B9A8A"/>
                </a:solidFill>
                <a:latin typeface="Nunito Sans" pitchFamily="34" charset="0"/>
                <a:ea typeface="Nunito Sans" pitchFamily="34" charset="-122"/>
                <a:cs typeface="Nunito Sans" pitchFamily="34" charset="-120"/>
              </a:rPr>
              <a:t>IF NO LAND LEASES</a:t>
            </a:r>
            <a:endParaRPr lang="en-US" sz="1250" dirty="0"/>
          </a:p>
        </p:txBody>
      </p:sp>
      <p:sp>
        <p:nvSpPr>
          <p:cNvPr id="28" name="Text 18"/>
          <p:cNvSpPr txBox="1"/>
          <p:nvPr/>
        </p:nvSpPr>
        <p:spPr>
          <a:xfrm>
            <a:off x="8369503" y="5450738"/>
            <a:ext cx="3108960" cy="416966"/>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€39,074 profit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8</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“Where does it go after year one?”</a:t>
            </a:r>
            <a:endParaRPr lang="en-US" sz="3000" dirty="0"/>
          </a:p>
        </p:txBody>
      </p:sp>
      <p:sp>
        <p:nvSpPr>
          <p:cNvPr id="4" name="Text 2"/>
          <p:cNvSpPr txBox="1"/>
          <p:nvPr/>
        </p:nvSpPr>
        <p:spPr>
          <a:xfrm>
            <a:off x="812902" y="6238037"/>
            <a:ext cx="73152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Years two and three are not in the model. Year one stands on its own.</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123237"/>
            <a:ext cx="3411626" cy="2514600"/>
          </a:xfrm>
          <a:prstGeom prst="roundRect">
            <a:avLst>
              <a:gd name="adj" fmla="val 4545"/>
            </a:avLst>
          </a:prstGeom>
          <a:solidFill>
            <a:srgbClr val="DCE0D3"/>
          </a:solidFill>
          <a:ln w="12700">
            <a:solidFill>
              <a:srgbClr val="DCE0D3"/>
            </a:solidFill>
            <a:prstDash val="solid"/>
          </a:ln>
        </p:spPr>
      </p:sp>
      <p:pic>
        <p:nvPicPr>
          <p:cNvPr id="8" name="Image 1" descr="preencoded.png">    </p:cNvPr>
          <p:cNvPicPr>
            <a:picLocks noChangeAspect="1"/>
          </p:cNvPicPr>
          <p:nvPr/>
        </p:nvPicPr>
        <p:blipFill>
          <a:blip r:embed="rId2"/>
          <a:stretch>
            <a:fillRect/>
          </a:stretch>
        </p:blipFill>
        <p:spPr>
          <a:xfrm>
            <a:off x="1041502" y="2351837"/>
            <a:ext cx="304495" cy="304495"/>
          </a:xfrm>
          <a:prstGeom prst="rect">
            <a:avLst/>
          </a:prstGeom>
        </p:spPr>
      </p:pic>
      <p:sp>
        <p:nvSpPr>
          <p:cNvPr id="9" name="Text 4"/>
          <p:cNvSpPr txBox="1"/>
          <p:nvPr/>
        </p:nvSpPr>
        <p:spPr>
          <a:xfrm>
            <a:off x="1041502"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0E1310"/>
                </a:solidFill>
                <a:latin typeface="Domine" pitchFamily="34" charset="0"/>
                <a:ea typeface="Domine" pitchFamily="34" charset="-122"/>
                <a:cs typeface="Domine" pitchFamily="34" charset="-120"/>
              </a:rPr>
              <a:t>More parcels</a:t>
            </a:r>
            <a:endParaRPr lang="en-US" sz="1900" dirty="0"/>
          </a:p>
        </p:txBody>
      </p:sp>
      <p:sp>
        <p:nvSpPr>
          <p:cNvPr id="10" name="Text 5"/>
          <p:cNvSpPr txBox="1"/>
          <p:nvPr/>
        </p:nvSpPr>
        <p:spPr>
          <a:xfrm>
            <a:off x="1041502"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59605A"/>
                </a:solidFill>
                <a:latin typeface="Nunito Sans" pitchFamily="34" charset="0"/>
                <a:ea typeface="Nunito Sans" pitchFamily="34" charset="-122"/>
                <a:cs typeface="Nunito Sans" pitchFamily="34" charset="-120"/>
              </a:rPr>
              <a:t>We have listed 40 ha in 10 example parcels. The Cambela polygon alone is 96 ha across 135 owners, and the municipality covers 61 km².</a:t>
            </a:r>
            <a:endParaRPr lang="en-US" sz="1350" dirty="0"/>
          </a:p>
        </p:txBody>
      </p:sp>
      <p:sp>
        <p:nvSpPr>
          <p:cNvPr id="11" name="Shape 6"/>
          <p:cNvSpPr/>
          <p:nvPr/>
        </p:nvSpPr>
        <p:spPr>
          <a:xfrm>
            <a:off x="4390034" y="2123237"/>
            <a:ext cx="3411626" cy="2514600"/>
          </a:xfrm>
          <a:prstGeom prst="roundRect">
            <a:avLst>
              <a:gd name="adj" fmla="val 4545"/>
            </a:avLst>
          </a:prstGeom>
          <a:solidFill>
            <a:srgbClr val="DCE0D3"/>
          </a:solidFill>
          <a:ln w="12700">
            <a:solidFill>
              <a:srgbClr val="DCE0D3"/>
            </a:solidFill>
            <a:prstDash val="solid"/>
          </a:ln>
        </p:spPr>
      </p:sp>
      <p:pic>
        <p:nvPicPr>
          <p:cNvPr id="12" name="Image 2" descr="preencoded.png">    </p:cNvPr>
          <p:cNvPicPr>
            <a:picLocks noChangeAspect="1"/>
          </p:cNvPicPr>
          <p:nvPr/>
        </p:nvPicPr>
        <p:blipFill>
          <a:blip r:embed="rId3"/>
          <a:stretch>
            <a:fillRect/>
          </a:stretch>
        </p:blipFill>
        <p:spPr>
          <a:xfrm>
            <a:off x="4618634" y="2351837"/>
            <a:ext cx="304495" cy="304495"/>
          </a:xfrm>
          <a:prstGeom prst="rect">
            <a:avLst/>
          </a:prstGeom>
        </p:spPr>
      </p:pic>
      <p:sp>
        <p:nvSpPr>
          <p:cNvPr id="13" name="Text 7"/>
          <p:cNvSpPr txBox="1"/>
          <p:nvPr/>
        </p:nvSpPr>
        <p:spPr>
          <a:xfrm>
            <a:off x="4618634"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0E1310"/>
                </a:solidFill>
                <a:latin typeface="Domine" pitchFamily="34" charset="0"/>
                <a:ea typeface="Domine" pitchFamily="34" charset="-122"/>
                <a:cs typeface="Domine" pitchFamily="34" charset="-120"/>
              </a:rPr>
              <a:t>More councils</a:t>
            </a:r>
            <a:endParaRPr lang="en-US" sz="1900" dirty="0"/>
          </a:p>
        </p:txBody>
      </p:sp>
      <p:sp>
        <p:nvSpPr>
          <p:cNvPr id="14" name="Text 8"/>
          <p:cNvSpPr txBox="1"/>
          <p:nvPr/>
        </p:nvSpPr>
        <p:spPr>
          <a:xfrm>
            <a:off x="4618634"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59605A"/>
                </a:solidFill>
                <a:latin typeface="Nunito Sans" pitchFamily="34" charset="0"/>
                <a:ea typeface="Nunito Sans" pitchFamily="34" charset="-122"/>
                <a:cs typeface="Nunito Sans" pitchFamily="34" charset="-120"/>
              </a:rPr>
              <a:t>Montederramo and A Teixeira already work with San Xoán de Río against depopulation. A second host covers a second valley; the concierge covers both.</a:t>
            </a:r>
            <a:endParaRPr lang="en-US" sz="1350" dirty="0"/>
          </a:p>
        </p:txBody>
      </p:sp>
      <p:sp>
        <p:nvSpPr>
          <p:cNvPr id="15" name="Shape 9"/>
          <p:cNvSpPr/>
          <p:nvPr/>
        </p:nvSpPr>
        <p:spPr>
          <a:xfrm>
            <a:off x="7967167" y="2123237"/>
            <a:ext cx="3411626" cy="2514600"/>
          </a:xfrm>
          <a:prstGeom prst="roundRect">
            <a:avLst>
              <a:gd name="adj" fmla="val 4545"/>
            </a:avLst>
          </a:prstGeom>
          <a:solidFill>
            <a:srgbClr val="DCE0D3"/>
          </a:solidFill>
          <a:ln w="12700">
            <a:solidFill>
              <a:srgbClr val="DCE0D3"/>
            </a:solidFill>
            <a:prstDash val="solid"/>
          </a:ln>
        </p:spPr>
      </p:sp>
      <p:pic>
        <p:nvPicPr>
          <p:cNvPr id="16" name="Image 3" descr="preencoded.png">    </p:cNvPr>
          <p:cNvPicPr>
            <a:picLocks noChangeAspect="1"/>
          </p:cNvPicPr>
          <p:nvPr/>
        </p:nvPicPr>
        <p:blipFill>
          <a:blip r:embed="rId4"/>
          <a:stretch>
            <a:fillRect/>
          </a:stretch>
        </p:blipFill>
        <p:spPr>
          <a:xfrm>
            <a:off x="8195767" y="2351837"/>
            <a:ext cx="304495" cy="304495"/>
          </a:xfrm>
          <a:prstGeom prst="rect">
            <a:avLst/>
          </a:prstGeom>
        </p:spPr>
      </p:pic>
      <p:sp>
        <p:nvSpPr>
          <p:cNvPr id="17" name="Text 10"/>
          <p:cNvSpPr txBox="1"/>
          <p:nvPr/>
        </p:nvSpPr>
        <p:spPr>
          <a:xfrm>
            <a:off x="8195767"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0E1310"/>
                </a:solidFill>
                <a:latin typeface="Domine" pitchFamily="34" charset="0"/>
                <a:ea typeface="Domine" pitchFamily="34" charset="-122"/>
                <a:cs typeface="Domine" pitchFamily="34" charset="-120"/>
              </a:rPr>
              <a:t>Own licences</a:t>
            </a:r>
            <a:endParaRPr lang="en-US" sz="1900" dirty="0"/>
          </a:p>
        </p:txBody>
      </p:sp>
      <p:sp>
        <p:nvSpPr>
          <p:cNvPr id="18" name="Text 11"/>
          <p:cNvSpPr txBox="1"/>
          <p:nvPr/>
        </p:nvSpPr>
        <p:spPr>
          <a:xfrm>
            <a:off x="8195767"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59605A"/>
                </a:solidFill>
                <a:latin typeface="Nunito Sans" pitchFamily="34" charset="0"/>
                <a:ea typeface="Nunito Sans" pitchFamily="34" charset="-122"/>
                <a:cs typeface="Nunito Sans" pitchFamily="34" charset="-120"/>
              </a:rPr>
              <a:t>A travel-agency licence for bundled offers, and CRAEGA-certified projects on our leases: the same assets, sold with fewer partners in between.</a:t>
            </a:r>
            <a:endParaRPr lang="en-US" sz="1350" dirty="0"/>
          </a:p>
        </p:txBody>
      </p:sp>
      <p:sp>
        <p:nvSpPr>
          <p:cNvPr id="19" name="Text 12"/>
          <p:cNvSpPr txBox="1"/>
          <p:nvPr/>
        </p:nvSpPr>
        <p:spPr>
          <a:xfrm>
            <a:off x="812902" y="5029200"/>
            <a:ext cx="10202875" cy="640080"/>
          </a:xfrm>
          <a:prstGeom prst="rect">
            <a:avLst/>
          </a:prstGeom>
          <a:noFill/>
          <a:ln/>
        </p:spPr>
        <p:txBody>
          <a:bodyPr wrap="square" lIns="0" tIns="0" rIns="0" bIns="0" rtlCol="0" anchor="t">
            <a:normAutofit/>
          </a:bodyPr>
          <a:lstStyle/>
          <a:p>
            <a:pPr algn="l" indent="0" marL="0">
              <a:lnSpc>
                <a:spcPts val="2240"/>
              </a:lnSpc>
              <a:buNone/>
            </a:pPr>
            <a:r>
              <a:rPr lang="en-US" altLang="en-US" sz="1600" dirty="0">
                <a:solidFill>
                  <a:srgbClr val="0E1310"/>
                </a:solidFill>
                <a:latin typeface="Nunito Sans" pitchFamily="34" charset="0"/>
                <a:ea typeface="Nunito Sans" pitchFamily="34" charset="-122"/>
                <a:cs typeface="Nunito Sans" pitchFamily="34" charset="-120"/>
              </a:rPr>
              <a:t>Adding a village costs a host and a phone book of owners, not a building and not an engineering team.</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9</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What could go wrong</a:t>
            </a:r>
            <a:endParaRPr lang="en-US" sz="3000" dirty="0"/>
          </a:p>
        </p:txBody>
      </p:sp>
      <p:sp>
        <p:nvSpPr>
          <p:cNvPr id="4" name="Text 2"/>
          <p:cNvSpPr txBox="1"/>
          <p:nvPr/>
        </p:nvSpPr>
        <p:spPr>
          <a:xfrm>
            <a:off x="812902" y="6238037"/>
            <a:ext cx="91440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Full list with sources at /business#compliance · legal points checked against official texts in September 2026</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12902" y="2011680"/>
          <a:ext cx="10566806" cy="914400"/>
        </p:xfrm>
        <a:graphic>
          <a:graphicData uri="http://schemas.openxmlformats.org/drawingml/2006/table">
            <a:tbl>
              <a:tblPr/>
              <a:tblGrid>
                <a:gridCol w="4754880"/>
                <a:gridCol w="5811926"/>
              </a:tblGrid>
              <a:tr h="566928">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RISK</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050" b="1" spc="100" kern="0" dirty="0">
                          <a:solidFill>
                            <a:srgbClr val="878E84"/>
                          </a:solidFill>
                          <a:latin typeface="Nunito Sans" pitchFamily="34" charset="0"/>
                          <a:ea typeface="Nunito Sans" pitchFamily="34" charset="-122"/>
                          <a:cs typeface="Nunito Sans" pitchFamily="34" charset="-120"/>
                        </a:rPr>
                        <a:t>WHAT WE DO ABOUT IT</a:t>
                      </a:r>
                      <a:endParaRPr lang="en-US" sz="105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Selling lodging or transport together with activities at one price makes it a “package holiday”, which needs a travel-agency licence and insolvency cover</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Our packages contain only tourist services. Guests book and pay lodging directly with the host, and taxis directly with the driver. Anything bundled goes through a licensed partner agency.</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Driving paying guests in our own car without a transport licence is a very serious infringement (€4,001–6,000)</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Transfers are done by licensed taxis we book; the car is used only for logistics.</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Land ownership is scattered: the Cambela polygon needs 135 owners for 96 ha, so one project may need a dozen signatures</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We are the local who knows every heir. One lease per project across several owners; unknown owners go through the Banco de Terras. The set-up fee pays for that work.</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Owners fear a 5-year minimum lease</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Ley 49/2003 protects both sides: written contract, yearly rent, the land stays theirs and comes back cleared. We start with parcels already abandoned for a decade.</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Seasonality and winter at 875 m</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Winter products (skiing, Entroido, hot springs, fireside stays) and Rural Valley arrivals in spring flatten the curve.</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r h="566928">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Demand is slower than planned</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c>
                  <a:txBody>
                    <a:bodyPr/>
                    <a:lstStyle/>
                    <a:p>
                      <a:pPr algn="l" indent="0" marL="0">
                        <a:buNone/>
                      </a:pPr>
                      <a:r>
                        <a:rPr lang="en-US" sz="1100" dirty="0">
                          <a:solidFill>
                            <a:srgbClr val="59605A"/>
                          </a:solidFill>
                          <a:latin typeface="Nunito Sans" pitchFamily="34" charset="0"/>
                          <a:ea typeface="Nunito Sans" pitchFamily="34" charset="-122"/>
                          <a:cs typeface="Nunito Sans" pitchFamily="34" charset="-120"/>
                        </a:rPr>
                        <a:t>The sliders show the break-even. Pre-sell events and company retreats before fixing dates.</a:t>
                      </a:r>
                      <a:endParaRPr lang="en-US" sz="1100" dirty="0">
                        <a:latin typeface="Nunito Sans" charset="0"/>
                        <a:ea typeface="Nunito Sans" charset="0"/>
                        <a:cs typeface="Nunito Sans" charset="0"/>
                      </a:endParaRPr>
                    </a:p>
                  </a:txBody>
                  <a:tcPr marL="73152" marR="73152" marT="36576" marB="36576" anchor="ctr">
                    <a:lnL w="0" cap="flat" cmpd="sng" algn="ctr">
                      <a:noFill/>
                    </a:lnL>
                    <a:lnR w="0" cap="flat" cmpd="sng" algn="ctr">
                      <a:noFill/>
                    </a:lnR>
                    <a:lnT w="0" cap="flat" cmpd="sng" algn="ctr">
                      <a:noFill/>
                    </a:lnT>
                    <a:lnB w="6350" cap="flat" cmpd="sng" algn="ctr">
                      <a:solidFill>
                        <a:srgbClr val="CDD2C2"/>
                      </a:solidFill>
                      <a:prstDash val="solid"/>
                      <a:round/>
                      <a:headEnd type="none" w="med" len="med"/>
                      <a:tailEnd type="none" w="med" len="med"/>
                    </a:lnB>
                    <a:solidFill>
                      <a:srgbClr val="E9EBE4"/>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10</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“Why would an owner lease for five years?”</a:t>
            </a:r>
            <a:endParaRPr lang="en-US" sz="3000" dirty="0"/>
          </a:p>
        </p:txBody>
      </p:sp>
      <p:sp>
        <p:nvSpPr>
          <p:cNvPr id="4" name="Text 2"/>
          <p:cNvSpPr txBox="1"/>
          <p:nvPr/>
        </p:nvSpPr>
        <p:spPr>
          <a:xfrm>
            <a:off x="812902" y="6238037"/>
            <a:ext cx="91440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MAPA rural lease survey, 2023 · Ley 49/2003 · El Correo Gallego citing MAPA, March 2026</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preencoded.png">    </p:cNvPr>
          <p:cNvPicPr>
            <a:picLocks noChangeAspect="1"/>
          </p:cNvPicPr>
          <p:nvPr/>
        </p:nvPicPr>
        <p:blipFill>
          <a:blip r:embed="rId2"/>
          <a:stretch>
            <a:fillRect/>
          </a:stretch>
        </p:blipFill>
        <p:spPr>
          <a:xfrm>
            <a:off x="812902" y="2423160"/>
            <a:ext cx="279806" cy="279806"/>
          </a:xfrm>
          <a:prstGeom prst="rect">
            <a:avLst/>
          </a:prstGeom>
        </p:spPr>
      </p:pic>
      <p:sp>
        <p:nvSpPr>
          <p:cNvPr id="8" name="Text 3"/>
          <p:cNvSpPr txBox="1"/>
          <p:nvPr/>
        </p:nvSpPr>
        <p:spPr>
          <a:xfrm>
            <a:off x="812902" y="2834640"/>
            <a:ext cx="3291840" cy="594360"/>
          </a:xfrm>
          <a:prstGeom prst="rect">
            <a:avLst/>
          </a:prstGeom>
          <a:noFill/>
          <a:ln/>
        </p:spPr>
        <p:txBody>
          <a:bodyPr wrap="square" lIns="0" tIns="0" rIns="0" bIns="0" rtlCol="0" anchor="t">
            <a:normAutofit/>
          </a:bodyPr>
          <a:lstStyle/>
          <a:p>
            <a:pPr algn="l" indent="0" marL="0">
              <a:lnSpc>
                <a:spcPts val="3800"/>
              </a:lnSpc>
              <a:buNone/>
            </a:pPr>
            <a:r>
              <a:rPr lang="en-US" altLang="en-US" sz="3600" b="1" dirty="0">
                <a:solidFill>
                  <a:srgbClr val="0E1310"/>
                </a:solidFill>
                <a:latin typeface="Domine" pitchFamily="34" charset="0"/>
                <a:ea typeface="Domine" pitchFamily="34" charset="-122"/>
                <a:cs typeface="Domine" pitchFamily="34" charset="-120"/>
              </a:rPr>
              <a:t>€172/ha</a:t>
            </a:r>
            <a:endParaRPr lang="en-US" sz="3600" dirty="0"/>
          </a:p>
        </p:txBody>
      </p:sp>
      <p:sp>
        <p:nvSpPr>
          <p:cNvPr id="9" name="Text 4"/>
          <p:cNvSpPr txBox="1"/>
          <p:nvPr/>
        </p:nvSpPr>
        <p:spPr>
          <a:xfrm>
            <a:off x="812902" y="3520440"/>
            <a:ext cx="3200400" cy="9144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59605A"/>
                </a:solidFill>
                <a:latin typeface="Nunito Sans" pitchFamily="34" charset="0"/>
                <a:ea typeface="Nunito Sans" pitchFamily="34" charset="-122"/>
                <a:cs typeface="Nunito Sans" pitchFamily="34" charset="-120"/>
              </a:rPr>
              <a:t>average yearly rent for Galician farmland, on parcels that have earned nothing since the 2000s</a:t>
            </a:r>
            <a:endParaRPr lang="en-US" sz="1400" dirty="0"/>
          </a:p>
        </p:txBody>
      </p:sp>
      <p:pic>
        <p:nvPicPr>
          <p:cNvPr id="10" name="Image 2" descr="preencoded.png">    </p:cNvPr>
          <p:cNvPicPr>
            <a:picLocks noChangeAspect="1"/>
          </p:cNvPicPr>
          <p:nvPr/>
        </p:nvPicPr>
        <p:blipFill>
          <a:blip r:embed="rId3"/>
          <a:stretch>
            <a:fillRect/>
          </a:stretch>
        </p:blipFill>
        <p:spPr>
          <a:xfrm>
            <a:off x="4390034" y="2423160"/>
            <a:ext cx="279806" cy="279806"/>
          </a:xfrm>
          <a:prstGeom prst="rect">
            <a:avLst/>
          </a:prstGeom>
        </p:spPr>
      </p:pic>
      <p:sp>
        <p:nvSpPr>
          <p:cNvPr id="11" name="Text 5"/>
          <p:cNvSpPr txBox="1"/>
          <p:nvPr/>
        </p:nvSpPr>
        <p:spPr>
          <a:xfrm>
            <a:off x="4390034" y="2834640"/>
            <a:ext cx="3291840" cy="594360"/>
          </a:xfrm>
          <a:prstGeom prst="rect">
            <a:avLst/>
          </a:prstGeom>
          <a:noFill/>
          <a:ln/>
        </p:spPr>
        <p:txBody>
          <a:bodyPr wrap="square" lIns="0" tIns="0" rIns="0" bIns="0" rtlCol="0" anchor="t">
            <a:normAutofit/>
          </a:bodyPr>
          <a:lstStyle/>
          <a:p>
            <a:pPr algn="l" indent="0" marL="0">
              <a:lnSpc>
                <a:spcPts val="3800"/>
              </a:lnSpc>
              <a:buNone/>
            </a:pPr>
            <a:r>
              <a:rPr lang="en-US" altLang="en-US" sz="3600" b="1" dirty="0">
                <a:solidFill>
                  <a:srgbClr val="6F8A18"/>
                </a:solidFill>
                <a:latin typeface="Domine" pitchFamily="34" charset="0"/>
                <a:ea typeface="Domine" pitchFamily="34" charset="-122"/>
                <a:cs typeface="Domine" pitchFamily="34" charset="-120"/>
              </a:rPr>
              <a:t>85%</a:t>
            </a:r>
            <a:endParaRPr lang="en-US" sz="3600" dirty="0"/>
          </a:p>
        </p:txBody>
      </p:sp>
      <p:sp>
        <p:nvSpPr>
          <p:cNvPr id="12" name="Text 6"/>
          <p:cNvSpPr txBox="1"/>
          <p:nvPr/>
        </p:nvSpPr>
        <p:spPr>
          <a:xfrm>
            <a:off x="4390034" y="3520440"/>
            <a:ext cx="3200400" cy="9144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59605A"/>
                </a:solidFill>
                <a:latin typeface="Nunito Sans" pitchFamily="34" charset="0"/>
                <a:ea typeface="Nunito Sans" pitchFamily="34" charset="-122"/>
                <a:cs typeface="Nunito Sans" pitchFamily="34" charset="-120"/>
              </a:rPr>
              <a:t>of the rent goes to the owner, paid every year; the land stays theirs and comes back cleared</a:t>
            </a:r>
            <a:endParaRPr lang="en-US" sz="1400" dirty="0"/>
          </a:p>
        </p:txBody>
      </p:sp>
      <p:pic>
        <p:nvPicPr>
          <p:cNvPr id="13" name="Image 3" descr="preencoded.png">    </p:cNvPr>
          <p:cNvPicPr>
            <a:picLocks noChangeAspect="1"/>
          </p:cNvPicPr>
          <p:nvPr/>
        </p:nvPicPr>
        <p:blipFill>
          <a:blip r:embed="rId4"/>
          <a:stretch>
            <a:fillRect/>
          </a:stretch>
        </p:blipFill>
        <p:spPr>
          <a:xfrm>
            <a:off x="7967167" y="2423160"/>
            <a:ext cx="279806" cy="279806"/>
          </a:xfrm>
          <a:prstGeom prst="rect">
            <a:avLst/>
          </a:prstGeom>
        </p:spPr>
      </p:pic>
      <p:sp>
        <p:nvSpPr>
          <p:cNvPr id="14" name="Text 7"/>
          <p:cNvSpPr txBox="1"/>
          <p:nvPr/>
        </p:nvSpPr>
        <p:spPr>
          <a:xfrm>
            <a:off x="7967167" y="2834640"/>
            <a:ext cx="3291840" cy="594360"/>
          </a:xfrm>
          <a:prstGeom prst="rect">
            <a:avLst/>
          </a:prstGeom>
          <a:noFill/>
          <a:ln/>
        </p:spPr>
        <p:txBody>
          <a:bodyPr wrap="square" lIns="0" tIns="0" rIns="0" bIns="0" rtlCol="0" anchor="t">
            <a:normAutofit/>
          </a:bodyPr>
          <a:lstStyle/>
          <a:p>
            <a:pPr algn="l" indent="0" marL="0">
              <a:lnSpc>
                <a:spcPts val="3800"/>
              </a:lnSpc>
              <a:buNone/>
            </a:pPr>
            <a:r>
              <a:rPr lang="en-US" altLang="en-US" sz="3600" b="1" dirty="0">
                <a:solidFill>
                  <a:srgbClr val="0E1310"/>
                </a:solidFill>
                <a:latin typeface="Domine" pitchFamily="34" charset="0"/>
                <a:ea typeface="Domine" pitchFamily="34" charset="-122"/>
                <a:cs typeface="Domine" pitchFamily="34" charset="-120"/>
              </a:rPr>
              <a:t>5 years</a:t>
            </a:r>
            <a:endParaRPr lang="en-US" sz="3600" dirty="0"/>
          </a:p>
        </p:txBody>
      </p:sp>
      <p:sp>
        <p:nvSpPr>
          <p:cNvPr id="15" name="Text 8"/>
          <p:cNvSpPr txBox="1"/>
          <p:nvPr/>
        </p:nvSpPr>
        <p:spPr>
          <a:xfrm>
            <a:off x="7967167" y="3520440"/>
            <a:ext cx="3200400" cy="914400"/>
          </a:xfrm>
          <a:prstGeom prst="rect">
            <a:avLst/>
          </a:prstGeom>
          <a:noFill/>
          <a:ln/>
        </p:spPr>
        <p:txBody>
          <a:bodyPr wrap="square" lIns="0" tIns="0" rIns="0" bIns="0" rtlCol="0" anchor="t">
            <a:normAutofit/>
          </a:bodyPr>
          <a:lstStyle/>
          <a:p>
            <a:pPr algn="l" indent="0" marL="0">
              <a:lnSpc>
                <a:spcPts val="2030"/>
              </a:lnSpc>
              <a:buNone/>
            </a:pPr>
            <a:r>
              <a:rPr lang="en-US" altLang="en-US" sz="1400" dirty="0">
                <a:solidFill>
                  <a:srgbClr val="59605A"/>
                </a:solidFill>
                <a:latin typeface="Nunito Sans" pitchFamily="34" charset="0"/>
                <a:ea typeface="Nunito Sans" pitchFamily="34" charset="-122"/>
                <a:cs typeface="Nunito Sans" pitchFamily="34" charset="-120"/>
              </a:rPr>
              <a:t>the legal minimum, renewed by five-year periods unless either side gives a year's notice</a:t>
            </a:r>
            <a:endParaRPr lang="en-US" sz="1400" dirty="0"/>
          </a:p>
        </p:txBody>
      </p:sp>
      <p:sp>
        <p:nvSpPr>
          <p:cNvPr id="16" name="Shape 9"/>
          <p:cNvSpPr/>
          <p:nvPr/>
        </p:nvSpPr>
        <p:spPr>
          <a:xfrm>
            <a:off x="812902" y="4663440"/>
            <a:ext cx="10566806" cy="0"/>
          </a:xfrm>
          <a:prstGeom prst="line">
            <a:avLst/>
          </a:prstGeom>
          <a:noFill/>
          <a:ln w="9525">
            <a:solidFill>
              <a:srgbClr val="CDD2C2"/>
            </a:solidFill>
            <a:prstDash val="solid"/>
          </a:ln>
        </p:spPr>
      </p:sp>
      <p:sp>
        <p:nvSpPr>
          <p:cNvPr id="17" name="Text 10"/>
          <p:cNvSpPr txBox="1"/>
          <p:nvPr/>
        </p:nvSpPr>
        <p:spPr>
          <a:xfrm>
            <a:off x="812902" y="4937760"/>
            <a:ext cx="10202875" cy="731520"/>
          </a:xfrm>
          <a:prstGeom prst="rect">
            <a:avLst/>
          </a:prstGeom>
          <a:noFill/>
          <a:ln/>
        </p:spPr>
        <p:txBody>
          <a:bodyPr wrap="square" lIns="0" tIns="0" rIns="0" bIns="0" rtlCol="0" anchor="t">
            <a:normAutofit/>
          </a:bodyPr>
          <a:lstStyle/>
          <a:p>
            <a:pPr algn="l" indent="0" marL="0">
              <a:lnSpc>
                <a:spcPts val="2800"/>
              </a:lnSpc>
              <a:buNone/>
            </a:pPr>
            <a:r>
              <a:rPr lang="en-US" altLang="en-US" sz="2100" b="1" dirty="0">
                <a:solidFill>
                  <a:srgbClr val="0E1310"/>
                </a:solidFill>
                <a:latin typeface="Domine" pitchFamily="34" charset="0"/>
                <a:ea typeface="Domine" pitchFamily="34" charset="-122"/>
                <a:cs typeface="Domine" pitchFamily="34" charset="-120"/>
              </a:rPr>
              <a:t>The alternative is not a better offer. It is another decade of brambles, a wildfire risk, and heirs who have never seen the plot.</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BE4"/>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6F8A18"/>
                </a:solidFill>
                <a:latin typeface="Nunito Sans" pitchFamily="34" charset="0"/>
                <a:ea typeface="Nunito Sans" pitchFamily="34" charset="-122"/>
                <a:cs typeface="Nunito Sans" pitchFamily="34" charset="-120"/>
              </a:rPr>
              <a:t>BACKUP 11</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0E1310"/>
                </a:solidFill>
                <a:latin typeface="Domine" pitchFamily="34" charset="0"/>
                <a:ea typeface="Domine" pitchFamily="34" charset="-122"/>
                <a:cs typeface="Domine" pitchFamily="34" charset="-120"/>
              </a:rPr>
              <a:t>What the prototype does today</a:t>
            </a:r>
            <a:endParaRPr lang="en-US" sz="3000" dirty="0"/>
          </a:p>
        </p:txBody>
      </p:sp>
      <p:sp>
        <p:nvSpPr>
          <p:cNvPr id="4" name="Text 2"/>
          <p:cNvSpPr txBox="1"/>
          <p:nvPr/>
        </p:nvSpPr>
        <p:spPr>
          <a:xfrm>
            <a:off x="812902" y="6238037"/>
            <a:ext cx="91440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78E84"/>
                </a:solidFill>
                <a:latin typeface="Nunito Sans" pitchFamily="34" charset="0"/>
                <a:ea typeface="Nunito Sans" pitchFamily="34" charset="-122"/>
                <a:cs typeface="Nunito Sans" pitchFamily="34" charset="-120"/>
              </a:rPr>
              <a:t>Example parcels until owners consent · payments and owner accounts not built · runs offline except map tiles</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pic>
        <p:nvPicPr>
          <p:cNvPr id="7" name="Image 1" descr="RuralRiver home page">    </p:cNvPr>
          <p:cNvPicPr>
            <a:picLocks noChangeAspect="1"/>
          </p:cNvPicPr>
          <p:nvPr/>
        </p:nvPicPr>
        <p:blipFill>
          <a:blip r:embed="rId2"/>
          <a:srcRect l="0" r="0" t="0" b="0"/>
          <a:stretch/>
        </p:blipFill>
        <p:spPr>
          <a:xfrm>
            <a:off x="812902" y="1806854"/>
            <a:ext cx="10566806" cy="2651760"/>
          </a:xfrm>
          <a:prstGeom prst="rect">
            <a:avLst/>
          </a:prstGeom>
        </p:spPr>
      </p:pic>
      <p:sp>
        <p:nvSpPr>
          <p:cNvPr id="8" name="Shape 3"/>
          <p:cNvSpPr/>
          <p:nvPr/>
        </p:nvSpPr>
        <p:spPr>
          <a:xfrm>
            <a:off x="809244" y="1803197"/>
            <a:ext cx="10574122" cy="2659075"/>
          </a:xfrm>
          <a:prstGeom prst="rect">
            <a:avLst/>
          </a:prstGeom>
          <a:ln w="6350">
            <a:solidFill>
              <a:srgbClr val="CDD2C2"/>
            </a:solidFill>
            <a:prstDash val="solid"/>
          </a:ln>
        </p:spPr>
      </p:sp>
      <p:pic>
        <p:nvPicPr>
          <p:cNvPr id="9" name="Image 2" descr="preencoded.png">    </p:cNvPr>
          <p:cNvPicPr>
            <a:picLocks noChangeAspect="1"/>
          </p:cNvPicPr>
          <p:nvPr/>
        </p:nvPicPr>
        <p:blipFill>
          <a:blip r:embed="rId3"/>
          <a:stretch>
            <a:fillRect/>
          </a:stretch>
        </p:blipFill>
        <p:spPr>
          <a:xfrm>
            <a:off x="812902" y="4670755"/>
            <a:ext cx="279806" cy="279806"/>
          </a:xfrm>
          <a:prstGeom prst="rect">
            <a:avLst/>
          </a:prstGeom>
        </p:spPr>
      </p:pic>
      <p:sp>
        <p:nvSpPr>
          <p:cNvPr id="10" name="Text 4"/>
          <p:cNvSpPr txBox="1"/>
          <p:nvPr/>
        </p:nvSpPr>
        <p:spPr>
          <a:xfrm>
            <a:off x="812902" y="5013655"/>
            <a:ext cx="3383280" cy="309982"/>
          </a:xfrm>
          <a:prstGeom prst="rect">
            <a:avLst/>
          </a:prstGeom>
          <a:noFill/>
          <a:ln/>
        </p:spPr>
        <p:txBody>
          <a:bodyPr wrap="square" lIns="0" tIns="0" rIns="0" bIns="0" rtlCol="0" anchor="t">
            <a:normAutofit/>
          </a:bodyPr>
          <a:lstStyle/>
          <a:p>
            <a:pPr algn="l" indent="0" marL="0">
              <a:lnSpc>
                <a:spcPts val="2240"/>
              </a:lnSpc>
              <a:buNone/>
            </a:pPr>
            <a:r>
              <a:rPr lang="en-US" altLang="en-US" sz="1600" b="1" dirty="0">
                <a:solidFill>
                  <a:srgbClr val="0E1310"/>
                </a:solidFill>
                <a:latin typeface="Domine" pitchFamily="34" charset="0"/>
                <a:ea typeface="Domine" pitchFamily="34" charset="-122"/>
                <a:cs typeface="Domine" pitchFamily="34" charset="-120"/>
              </a:rPr>
              <a:t>Guided planner</a:t>
            </a:r>
            <a:endParaRPr lang="en-US" sz="1600" dirty="0"/>
          </a:p>
        </p:txBody>
      </p:sp>
      <p:sp>
        <p:nvSpPr>
          <p:cNvPr id="11" name="Text 5"/>
          <p:cNvSpPr txBox="1"/>
          <p:nvPr/>
        </p:nvSpPr>
        <p:spPr>
          <a:xfrm>
            <a:off x="812902" y="5362042"/>
            <a:ext cx="3383280" cy="685800"/>
          </a:xfrm>
          <a:prstGeom prst="rect">
            <a:avLst/>
          </a:prstGeom>
          <a:noFill/>
          <a:ln/>
        </p:spPr>
        <p:txBody>
          <a:bodyPr wrap="square" lIns="0" tIns="0" rIns="0" bIns="0" rtlCol="0" anchor="t">
            <a:normAutofit/>
          </a:bodyPr>
          <a:lstStyle/>
          <a:p>
            <a:pPr algn="l" indent="0" marL="0">
              <a:lnSpc>
                <a:spcPts val="1750"/>
              </a:lnSpc>
              <a:buNone/>
            </a:pPr>
            <a:r>
              <a:rPr lang="en-US" altLang="en-US" sz="1250" dirty="0">
                <a:solidFill>
                  <a:srgbClr val="59605A"/>
                </a:solidFill>
                <a:latin typeface="Nunito Sans" pitchFamily="34" charset="0"/>
                <a:ea typeface="Nunito Sans" pitchFamily="34" charset="-122"/>
                <a:cs typeface="Nunito Sans" pitchFamily="34" charset="-120"/>
              </a:rPr>
              <a:t>Five branches, including agricultural projects: hectares, years, workers, housing, then a priced plan</a:t>
            </a:r>
            <a:endParaRPr lang="en-US" sz="1250" dirty="0"/>
          </a:p>
        </p:txBody>
      </p:sp>
      <p:pic>
        <p:nvPicPr>
          <p:cNvPr id="12" name="Image 3" descr="preencoded.png">    </p:cNvPr>
          <p:cNvPicPr>
            <a:picLocks noChangeAspect="1"/>
          </p:cNvPicPr>
          <p:nvPr/>
        </p:nvPicPr>
        <p:blipFill>
          <a:blip r:embed="rId4"/>
          <a:stretch>
            <a:fillRect/>
          </a:stretch>
        </p:blipFill>
        <p:spPr>
          <a:xfrm>
            <a:off x="4452214" y="4670755"/>
            <a:ext cx="279806" cy="279806"/>
          </a:xfrm>
          <a:prstGeom prst="rect">
            <a:avLst/>
          </a:prstGeom>
        </p:spPr>
      </p:pic>
      <p:sp>
        <p:nvSpPr>
          <p:cNvPr id="13" name="Text 6"/>
          <p:cNvSpPr txBox="1"/>
          <p:nvPr/>
        </p:nvSpPr>
        <p:spPr>
          <a:xfrm>
            <a:off x="4452214" y="5013655"/>
            <a:ext cx="3383280" cy="309982"/>
          </a:xfrm>
          <a:prstGeom prst="rect">
            <a:avLst/>
          </a:prstGeom>
          <a:noFill/>
          <a:ln/>
        </p:spPr>
        <p:txBody>
          <a:bodyPr wrap="square" lIns="0" tIns="0" rIns="0" bIns="0" rtlCol="0" anchor="t">
            <a:normAutofit/>
          </a:bodyPr>
          <a:lstStyle/>
          <a:p>
            <a:pPr algn="l" indent="0" marL="0">
              <a:lnSpc>
                <a:spcPts val="2240"/>
              </a:lnSpc>
              <a:buNone/>
            </a:pPr>
            <a:r>
              <a:rPr lang="en-US" altLang="en-US" sz="1600" b="1" dirty="0">
                <a:solidFill>
                  <a:srgbClr val="0E1310"/>
                </a:solidFill>
                <a:latin typeface="Domine" pitchFamily="34" charset="0"/>
                <a:ea typeface="Domine" pitchFamily="34" charset="-122"/>
                <a:cs typeface="Domine" pitchFamily="34" charset="-120"/>
              </a:rPr>
              <a:t>Land map + lease builder</a:t>
            </a:r>
            <a:endParaRPr lang="en-US" sz="1600" dirty="0"/>
          </a:p>
        </p:txBody>
      </p:sp>
      <p:sp>
        <p:nvSpPr>
          <p:cNvPr id="14" name="Text 7"/>
          <p:cNvSpPr txBox="1"/>
          <p:nvPr/>
        </p:nvSpPr>
        <p:spPr>
          <a:xfrm>
            <a:off x="4452214" y="5362042"/>
            <a:ext cx="3383280" cy="685800"/>
          </a:xfrm>
          <a:prstGeom prst="rect">
            <a:avLst/>
          </a:prstGeom>
          <a:noFill/>
          <a:ln/>
        </p:spPr>
        <p:txBody>
          <a:bodyPr wrap="square" lIns="0" tIns="0" rIns="0" bIns="0" rtlCol="0" anchor="t">
            <a:normAutofit/>
          </a:bodyPr>
          <a:lstStyle/>
          <a:p>
            <a:pPr algn="l" indent="0" marL="0">
              <a:lnSpc>
                <a:spcPts val="1750"/>
              </a:lnSpc>
              <a:buNone/>
            </a:pPr>
            <a:r>
              <a:rPr lang="en-US" altLang="en-US" sz="1250" dirty="0">
                <a:solidFill>
                  <a:srgbClr val="59605A"/>
                </a:solidFill>
                <a:latin typeface="Nunito Sans" pitchFamily="34" charset="0"/>
                <a:ea typeface="Nunito Sans" pitchFamily="34" charset="-122"/>
                <a:cs typeface="Nunito Sans" pitchFamily="34" charset="-120"/>
              </a:rPr>
              <a:t>10 example parcels, 40 ha, municipal boundary from OSM; quotes rent, owner share, fees and jobs</a:t>
            </a:r>
            <a:endParaRPr lang="en-US" sz="1250" dirty="0"/>
          </a:p>
        </p:txBody>
      </p:sp>
      <p:pic>
        <p:nvPicPr>
          <p:cNvPr id="15" name="Image 4" descr="preencoded.png">    </p:cNvPr>
          <p:cNvPicPr>
            <a:picLocks noChangeAspect="1"/>
          </p:cNvPicPr>
          <p:nvPr/>
        </p:nvPicPr>
        <p:blipFill>
          <a:blip r:embed="rId5"/>
          <a:stretch>
            <a:fillRect/>
          </a:stretch>
        </p:blipFill>
        <p:spPr>
          <a:xfrm>
            <a:off x="8091526" y="4670755"/>
            <a:ext cx="279806" cy="279806"/>
          </a:xfrm>
          <a:prstGeom prst="rect">
            <a:avLst/>
          </a:prstGeom>
        </p:spPr>
      </p:pic>
      <p:sp>
        <p:nvSpPr>
          <p:cNvPr id="16" name="Text 8"/>
          <p:cNvSpPr txBox="1"/>
          <p:nvPr/>
        </p:nvSpPr>
        <p:spPr>
          <a:xfrm>
            <a:off x="8091526" y="5013655"/>
            <a:ext cx="3383280" cy="309982"/>
          </a:xfrm>
          <a:prstGeom prst="rect">
            <a:avLst/>
          </a:prstGeom>
          <a:noFill/>
          <a:ln/>
        </p:spPr>
        <p:txBody>
          <a:bodyPr wrap="square" lIns="0" tIns="0" rIns="0" bIns="0" rtlCol="0" anchor="t">
            <a:normAutofit/>
          </a:bodyPr>
          <a:lstStyle/>
          <a:p>
            <a:pPr algn="l" indent="0" marL="0">
              <a:lnSpc>
                <a:spcPts val="2240"/>
              </a:lnSpc>
              <a:buNone/>
            </a:pPr>
            <a:r>
              <a:rPr lang="en-US" altLang="en-US" sz="1600" b="1" dirty="0">
                <a:solidFill>
                  <a:srgbClr val="0E1310"/>
                </a:solidFill>
                <a:latin typeface="Domine" pitchFamily="34" charset="0"/>
                <a:ea typeface="Domine" pitchFamily="34" charset="-122"/>
                <a:cs typeface="Domine" pitchFamily="34" charset="-120"/>
              </a:rPr>
              <a:t>Live business model</a:t>
            </a:r>
            <a:endParaRPr lang="en-US" sz="1600" dirty="0"/>
          </a:p>
        </p:txBody>
      </p:sp>
      <p:sp>
        <p:nvSpPr>
          <p:cNvPr id="17" name="Text 9"/>
          <p:cNvSpPr txBox="1"/>
          <p:nvPr/>
        </p:nvSpPr>
        <p:spPr>
          <a:xfrm>
            <a:off x="8091526" y="5362042"/>
            <a:ext cx="3383280" cy="685800"/>
          </a:xfrm>
          <a:prstGeom prst="rect">
            <a:avLst/>
          </a:prstGeom>
          <a:noFill/>
          <a:ln/>
        </p:spPr>
        <p:txBody>
          <a:bodyPr wrap="square" lIns="0" tIns="0" rIns="0" bIns="0" rtlCol="0" anchor="t">
            <a:normAutofit/>
          </a:bodyPr>
          <a:lstStyle/>
          <a:p>
            <a:pPr algn="l" indent="0" marL="0">
              <a:lnSpc>
                <a:spcPts val="1750"/>
              </a:lnSpc>
              <a:buNone/>
            </a:pPr>
            <a:r>
              <a:rPr lang="en-US" altLang="en-US" sz="1250" dirty="0">
                <a:solidFill>
                  <a:srgbClr val="59605A"/>
                </a:solidFill>
                <a:latin typeface="Nunito Sans" pitchFamily="34" charset="0"/>
                <a:ea typeface="Nunito Sans" pitchFamily="34" charset="-122"/>
                <a:cs typeface="Nunito Sans" pitchFamily="34" charset="-120"/>
              </a:rPr>
              <a:t>Sliders on /business; /api/model feeds this deck, so slides and site never disagree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310"/>
        </a:solidFill>
      </p:bgPr>
    </p:bg>
    <p:spTree>
      <p:nvGrpSpPr>
        <p:cNvPr id="1" name=""/>
        <p:cNvGrpSpPr/>
        <p:nvPr/>
      </p:nvGrpSpPr>
      <p:grpSpPr>
        <a:xfrm>
          <a:off x="0" y="0"/>
          <a:ext cx="0" cy="0"/>
          <a:chOff x="0" y="0"/>
          <a:chExt cx="0" cy="0"/>
        </a:xfrm>
      </p:grpSpPr>
      <p:sp>
        <p:nvSpPr>
          <p:cNvPr id="2" name="Text 0"/>
          <p:cNvSpPr txBox="1"/>
          <p:nvPr/>
        </p:nvSpPr>
        <p:spPr>
          <a:xfrm>
            <a:off x="812902" y="812902"/>
            <a:ext cx="10883189" cy="256946"/>
          </a:xfrm>
          <a:prstGeom prst="rect">
            <a:avLst/>
          </a:prstGeom>
          <a:noFill/>
          <a:ln/>
        </p:spPr>
        <p:txBody>
          <a:bodyPr wrap="square" lIns="0" tIns="0" rIns="0" bIns="0" rtlCol="0" anchor="t">
            <a:normAutofit/>
          </a:bodyPr>
          <a:lstStyle/>
          <a:p>
            <a:pPr algn="l" indent="0" marL="0">
              <a:lnSpc>
                <a:spcPts val="1820"/>
              </a:lnSpc>
              <a:buNone/>
            </a:pPr>
            <a:r>
              <a:rPr lang="en-US" altLang="en-US" sz="1300" b="1" spc="200" kern="0" dirty="0">
                <a:solidFill>
                  <a:srgbClr val="A7C049"/>
                </a:solidFill>
                <a:latin typeface="Nunito Sans" pitchFamily="34" charset="0"/>
                <a:ea typeface="Nunito Sans" pitchFamily="34" charset="-122"/>
                <a:cs typeface="Nunito Sans" pitchFamily="34" charset="-120"/>
              </a:rPr>
              <a:t>BACKUP 12</a:t>
            </a:r>
            <a:endParaRPr lang="en-US" sz="1300" dirty="0"/>
          </a:p>
        </p:txBody>
      </p:sp>
      <p:sp>
        <p:nvSpPr>
          <p:cNvPr id="3" name="Text 1"/>
          <p:cNvSpPr txBox="1"/>
          <p:nvPr/>
        </p:nvSpPr>
        <p:spPr>
          <a:xfrm>
            <a:off x="812902" y="1171346"/>
            <a:ext cx="10566806" cy="483870"/>
          </a:xfrm>
          <a:prstGeom prst="rect">
            <a:avLst/>
          </a:prstGeom>
          <a:noFill/>
          <a:ln/>
        </p:spPr>
        <p:txBody>
          <a:bodyPr wrap="square" lIns="0" tIns="0" rIns="0" bIns="0" rtlCol="0" anchor="t">
            <a:normAutofit/>
          </a:bodyPr>
          <a:lstStyle/>
          <a:p>
            <a:pPr algn="l" indent="0" marL="0">
              <a:lnSpc>
                <a:spcPts val="3450"/>
              </a:lnSpc>
              <a:buNone/>
            </a:pPr>
            <a:r>
              <a:rPr lang="en-US" altLang="en-US" sz="3000" b="1" dirty="0">
                <a:solidFill>
                  <a:srgbClr val="E9EBE4"/>
                </a:solidFill>
                <a:latin typeface="Domine" pitchFamily="34" charset="0"/>
                <a:ea typeface="Domine" pitchFamily="34" charset="-122"/>
                <a:cs typeface="Domine" pitchFamily="34" charset="-120"/>
              </a:rPr>
              <a:t>“Where do public funds fit?”</a:t>
            </a:r>
            <a:endParaRPr lang="en-US" sz="3000" dirty="0"/>
          </a:p>
        </p:txBody>
      </p:sp>
      <p:sp>
        <p:nvSpPr>
          <p:cNvPr id="4" name="Text 2"/>
          <p:cNvSpPr txBox="1"/>
          <p:nvPr/>
        </p:nvSpPr>
        <p:spPr>
          <a:xfrm>
            <a:off x="812902" y="6238037"/>
            <a:ext cx="10058400" cy="238658"/>
          </a:xfrm>
          <a:prstGeom prst="rect">
            <a:avLst/>
          </a:prstGeom>
          <a:noFill/>
          <a:ln/>
        </p:spPr>
        <p:txBody>
          <a:bodyPr wrap="square" lIns="0" tIns="0" rIns="0" bIns="0" rtlCol="0" anchor="t">
            <a:normAutofit/>
          </a:bodyPr>
          <a:lstStyle/>
          <a:p>
            <a:pPr algn="l" indent="0" marL="0">
              <a:lnSpc>
                <a:spcPts val="1680"/>
              </a:lnSpc>
              <a:buNone/>
            </a:pPr>
            <a:r>
              <a:rPr lang="en-US" altLang="en-US" sz="1200" dirty="0">
                <a:solidFill>
                  <a:srgbClr val="8B9A8A"/>
                </a:solidFill>
                <a:latin typeface="Nunito Sans" pitchFamily="34" charset="0"/>
                <a:ea typeface="Nunito Sans" pitchFamily="34" charset="-122"/>
                <a:cs typeface="Nunito Sans" pitchFamily="34" charset="-120"/>
              </a:rPr>
              <a:t>DOG 9 Mar 2026 (MR404A) · DOG 19 Jan 2026 (MR708A) · Lei 11/2021 · none of the Year 1 figures assume any grant</a:t>
            </a:r>
            <a:endParaRPr lang="en-US" sz="1200" dirty="0"/>
          </a:p>
        </p:txBody>
      </p:sp>
      <p:pic>
        <p:nvPicPr>
          <p:cNvPr id="5" name="Image 0" descr="RuralRiver">    </p:cNvPr>
          <p:cNvPicPr>
            <a:picLocks noChangeAspect="1"/>
          </p:cNvPicPr>
          <p:nvPr/>
        </p:nvPicPr>
        <p:blipFill>
          <a:blip r:embed="rId1"/>
          <a:srcRect l="0" r="0" t="0" b="0"/>
          <a:stretch/>
        </p:blipFill>
        <p:spPr>
          <a:xfrm>
            <a:off x="11064240" y="6190488"/>
            <a:ext cx="329184" cy="301752"/>
          </a:xfrm>
          <a:prstGeom prst="rect">
            <a:avLst/>
          </a:prstGeom>
        </p:spPr>
      </p:pic>
      <p:sp>
        <p:nvSpPr>
          <p:cNvPr id="7" name="Shape 3"/>
          <p:cNvSpPr/>
          <p:nvPr/>
        </p:nvSpPr>
        <p:spPr>
          <a:xfrm>
            <a:off x="812902" y="2123237"/>
            <a:ext cx="3411626" cy="2514600"/>
          </a:xfrm>
          <a:prstGeom prst="roundRect">
            <a:avLst>
              <a:gd name="adj" fmla="val 4545"/>
            </a:avLst>
          </a:prstGeom>
          <a:solidFill>
            <a:srgbClr val="2F5D4A"/>
          </a:solidFill>
          <a:ln w="12700">
            <a:solidFill>
              <a:srgbClr val="2F5D4A"/>
            </a:solidFill>
            <a:prstDash val="solid"/>
          </a:ln>
        </p:spPr>
      </p:sp>
      <p:pic>
        <p:nvPicPr>
          <p:cNvPr id="8" name="Image 1" descr="preencoded.png">    </p:cNvPr>
          <p:cNvPicPr>
            <a:picLocks noChangeAspect="1"/>
          </p:cNvPicPr>
          <p:nvPr/>
        </p:nvPicPr>
        <p:blipFill>
          <a:blip r:embed="rId2"/>
          <a:stretch>
            <a:fillRect/>
          </a:stretch>
        </p:blipFill>
        <p:spPr>
          <a:xfrm>
            <a:off x="1041502" y="2351837"/>
            <a:ext cx="304495" cy="304495"/>
          </a:xfrm>
          <a:prstGeom prst="rect">
            <a:avLst/>
          </a:prstGeom>
        </p:spPr>
      </p:pic>
      <p:sp>
        <p:nvSpPr>
          <p:cNvPr id="9" name="Text 4"/>
          <p:cNvSpPr txBox="1"/>
          <p:nvPr/>
        </p:nvSpPr>
        <p:spPr>
          <a:xfrm>
            <a:off x="1041502"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Young farmer aid</a:t>
            </a:r>
            <a:endParaRPr lang="en-US" sz="1900" dirty="0"/>
          </a:p>
        </p:txBody>
      </p:sp>
      <p:sp>
        <p:nvSpPr>
          <p:cNvPr id="10" name="Text 5"/>
          <p:cNvSpPr txBox="1"/>
          <p:nvPr/>
        </p:nvSpPr>
        <p:spPr>
          <a:xfrm>
            <a:off x="1041502"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A9B6A8"/>
                </a:solidFill>
                <a:latin typeface="Nunito Sans" pitchFamily="34" charset="0"/>
                <a:ea typeface="Nunito Sans" pitchFamily="34" charset="-122"/>
                <a:cs typeface="Nunito Sans" pitchFamily="34" charset="-120"/>
              </a:rPr>
              <a:t>€30,000 to €70,000 per new farmer aged 18–40 (Xunta, 2026 call). It goes to the project owner on our parcels; 5,000+ have used it since 2009.</a:t>
            </a:r>
            <a:endParaRPr lang="en-US" sz="1350" dirty="0"/>
          </a:p>
        </p:txBody>
      </p:sp>
      <p:sp>
        <p:nvSpPr>
          <p:cNvPr id="11" name="Shape 6"/>
          <p:cNvSpPr/>
          <p:nvPr/>
        </p:nvSpPr>
        <p:spPr>
          <a:xfrm>
            <a:off x="4390034" y="2123237"/>
            <a:ext cx="3411626" cy="2514600"/>
          </a:xfrm>
          <a:prstGeom prst="roundRect">
            <a:avLst>
              <a:gd name="adj" fmla="val 4545"/>
            </a:avLst>
          </a:prstGeom>
          <a:solidFill>
            <a:srgbClr val="2F5D4A"/>
          </a:solidFill>
          <a:ln w="12700">
            <a:solidFill>
              <a:srgbClr val="2F5D4A"/>
            </a:solidFill>
            <a:prstDash val="solid"/>
          </a:ln>
        </p:spPr>
      </p:sp>
      <p:pic>
        <p:nvPicPr>
          <p:cNvPr id="12" name="Image 2" descr="preencoded.png">    </p:cNvPr>
          <p:cNvPicPr>
            <a:picLocks noChangeAspect="1"/>
          </p:cNvPicPr>
          <p:nvPr/>
        </p:nvPicPr>
        <p:blipFill>
          <a:blip r:embed="rId3"/>
          <a:stretch>
            <a:fillRect/>
          </a:stretch>
        </p:blipFill>
        <p:spPr>
          <a:xfrm>
            <a:off x="4618634" y="2351837"/>
            <a:ext cx="304495" cy="304495"/>
          </a:xfrm>
          <a:prstGeom prst="rect">
            <a:avLst/>
          </a:prstGeom>
        </p:spPr>
      </p:pic>
      <p:sp>
        <p:nvSpPr>
          <p:cNvPr id="13" name="Text 7"/>
          <p:cNvSpPr txBox="1"/>
          <p:nvPr/>
        </p:nvSpPr>
        <p:spPr>
          <a:xfrm>
            <a:off x="4618634"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Diversification aid</a:t>
            </a:r>
            <a:endParaRPr lang="en-US" sz="1900" dirty="0"/>
          </a:p>
        </p:txBody>
      </p:sp>
      <p:sp>
        <p:nvSpPr>
          <p:cNvPr id="14" name="Text 8"/>
          <p:cNvSpPr txBox="1"/>
          <p:nvPr/>
        </p:nvSpPr>
        <p:spPr>
          <a:xfrm>
            <a:off x="4618634"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A9B6A8"/>
                </a:solidFill>
                <a:latin typeface="Nunito Sans" pitchFamily="34" charset="0"/>
                <a:ea typeface="Nunito Sans" pitchFamily="34" charset="-122"/>
                <a:cs typeface="Nunito Sans" pitchFamily="34" charset="-120"/>
              </a:rPr>
              <a:t>Subsidised investment for rural businesses (2026 call open). Could co-fund the house refit and the event kit. Funding, not revenue.</a:t>
            </a:r>
            <a:endParaRPr lang="en-US" sz="1350" dirty="0"/>
          </a:p>
        </p:txBody>
      </p:sp>
      <p:sp>
        <p:nvSpPr>
          <p:cNvPr id="15" name="Shape 9"/>
          <p:cNvSpPr/>
          <p:nvPr/>
        </p:nvSpPr>
        <p:spPr>
          <a:xfrm>
            <a:off x="7967167" y="2123237"/>
            <a:ext cx="3411626" cy="2514600"/>
          </a:xfrm>
          <a:prstGeom prst="roundRect">
            <a:avLst>
              <a:gd name="adj" fmla="val 4545"/>
            </a:avLst>
          </a:prstGeom>
          <a:solidFill>
            <a:srgbClr val="2F5D4A"/>
          </a:solidFill>
          <a:ln w="12700">
            <a:solidFill>
              <a:srgbClr val="2F5D4A"/>
            </a:solidFill>
            <a:prstDash val="solid"/>
          </a:ln>
        </p:spPr>
      </p:sp>
      <p:pic>
        <p:nvPicPr>
          <p:cNvPr id="16" name="Image 3" descr="preencoded.png">    </p:cNvPr>
          <p:cNvPicPr>
            <a:picLocks noChangeAspect="1"/>
          </p:cNvPicPr>
          <p:nvPr/>
        </p:nvPicPr>
        <p:blipFill>
          <a:blip r:embed="rId4"/>
          <a:stretch>
            <a:fillRect/>
          </a:stretch>
        </p:blipFill>
        <p:spPr>
          <a:xfrm>
            <a:off x="8195767" y="2351837"/>
            <a:ext cx="304495" cy="304495"/>
          </a:xfrm>
          <a:prstGeom prst="rect">
            <a:avLst/>
          </a:prstGeom>
        </p:spPr>
      </p:pic>
      <p:sp>
        <p:nvSpPr>
          <p:cNvPr id="17" name="Text 10"/>
          <p:cNvSpPr txBox="1"/>
          <p:nvPr/>
        </p:nvSpPr>
        <p:spPr>
          <a:xfrm>
            <a:off x="8195767" y="2763317"/>
            <a:ext cx="2954426" cy="365760"/>
          </a:xfrm>
          <a:prstGeom prst="rect">
            <a:avLst/>
          </a:prstGeom>
          <a:noFill/>
          <a:ln/>
        </p:spPr>
        <p:txBody>
          <a:bodyPr wrap="square" lIns="0" tIns="0" rIns="0" bIns="0" rtlCol="0" anchor="t">
            <a:normAutofit/>
          </a:bodyPr>
          <a:lstStyle/>
          <a:p>
            <a:pPr algn="l" indent="0" marL="0">
              <a:lnSpc>
                <a:spcPts val="2660"/>
              </a:lnSpc>
              <a:buNone/>
            </a:pPr>
            <a:r>
              <a:rPr lang="en-US" altLang="en-US" sz="1900" b="1" dirty="0">
                <a:solidFill>
                  <a:srgbClr val="E9EBE4"/>
                </a:solidFill>
                <a:latin typeface="Domine" pitchFamily="34" charset="0"/>
                <a:ea typeface="Domine" pitchFamily="34" charset="-122"/>
                <a:cs typeface="Domine" pitchFamily="34" charset="-120"/>
              </a:rPr>
              <a:t>Land-recovery tools</a:t>
            </a:r>
            <a:endParaRPr lang="en-US" sz="1900" dirty="0"/>
          </a:p>
        </p:txBody>
      </p:sp>
      <p:sp>
        <p:nvSpPr>
          <p:cNvPr id="18" name="Text 11"/>
          <p:cNvSpPr txBox="1"/>
          <p:nvPr/>
        </p:nvSpPr>
        <p:spPr>
          <a:xfrm>
            <a:off x="8195767" y="3193085"/>
            <a:ext cx="2954426" cy="1325880"/>
          </a:xfrm>
          <a:prstGeom prst="rect">
            <a:avLst/>
          </a:prstGeom>
          <a:noFill/>
          <a:ln/>
        </p:spPr>
        <p:txBody>
          <a:bodyPr wrap="square" lIns="0" tIns="0" rIns="0" bIns="0" rtlCol="0" anchor="t">
            <a:normAutofit/>
          </a:bodyPr>
          <a:lstStyle/>
          <a:p>
            <a:pPr algn="l" indent="0" marL="0">
              <a:lnSpc>
                <a:spcPts val="1958"/>
              </a:lnSpc>
              <a:buNone/>
            </a:pPr>
            <a:r>
              <a:rPr lang="en-US" altLang="en-US" sz="1350" dirty="0">
                <a:solidFill>
                  <a:srgbClr val="A9B6A8"/>
                </a:solidFill>
                <a:latin typeface="Nunito Sans" pitchFamily="34" charset="0"/>
                <a:ea typeface="Nunito Sans" pitchFamily="34" charset="-122"/>
                <a:cs typeface="Nunito Sans" pitchFamily="34" charset="-120"/>
              </a:rPr>
              <a:t>Lei 11/2021 created the Banco de Terras, model villages and agroforestry polygons. We use them for unknown owners and work with Agader, not against it.</a:t>
            </a:r>
            <a:endParaRPr lang="en-US" sz="1350" dirty="0"/>
          </a:p>
        </p:txBody>
      </p:sp>
      <p:sp>
        <p:nvSpPr>
          <p:cNvPr id="19" name="Text 12"/>
          <p:cNvSpPr txBox="1"/>
          <p:nvPr/>
        </p:nvSpPr>
        <p:spPr>
          <a:xfrm>
            <a:off x="812902" y="5029200"/>
            <a:ext cx="10202875" cy="548640"/>
          </a:xfrm>
          <a:prstGeom prst="rect">
            <a:avLst/>
          </a:prstGeom>
          <a:noFill/>
          <a:ln/>
        </p:spPr>
        <p:txBody>
          <a:bodyPr wrap="square" lIns="0" tIns="0" rIns="0" bIns="0" rtlCol="0" anchor="t">
            <a:normAutofit/>
          </a:bodyPr>
          <a:lstStyle/>
          <a:p>
            <a:pPr algn="l" indent="0" marL="0">
              <a:lnSpc>
                <a:spcPts val="2900"/>
              </a:lnSpc>
              <a:buNone/>
            </a:pPr>
            <a:r>
              <a:rPr lang="en-US" altLang="en-US" sz="2200" b="1" dirty="0">
                <a:solidFill>
                  <a:srgbClr val="E9EBE4"/>
                </a:solidFill>
                <a:latin typeface="Domine" pitchFamily="34" charset="0"/>
                <a:ea typeface="Domine" pitchFamily="34" charset="-122"/>
                <a:cs typeface="Domine" pitchFamily="34" charset="-120"/>
              </a:rPr>
              <a:t>Grants help projects start. None of the Year 1 figures assume them.</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2026-09-22T20:29:47Z</dcterms:created>
  <dcterms:modified xsi:type="dcterms:W3CDTF">2026-09-22T20:29:47Z</dcterms:modified>
</cp:coreProperties>
</file>